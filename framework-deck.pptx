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0000" y="430000"/>
            <a:ext cx="10972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E7C94"/>
                </a:solidFill>
                <a:latin typeface="Calibri"/>
              </a:rPr>
              <a:t>T H E   F R A M E W O R 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9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FFFFF"/>
                </a:solidFill>
                <a:latin typeface="Calibri Light"/>
              </a:rPr>
              <a:t>The case for collaborating is never the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0000" y="1620000"/>
            <a:ext cx="109720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A7BD"/>
                </a:solidFill>
                <a:latin typeface="Calibri"/>
              </a:rPr>
              <a:t>Every division agrees the shared asset should exist. What stops each one is specific, legitimate, and rarely about the money —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so the work is diagnosis, not persuasion.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0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3FD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0000" rIns="300000" tIns="260000" bIns="2000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3FD9A0"/>
                </a:solidFill>
                <a:latin typeface="Calibri"/>
              </a:rPr>
              <a:t>WHY THEY COME TO THE 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1250" b="0" i="1">
                <a:solidFill>
                  <a:srgbClr val="6E7C94"/>
                </a:solidFill>
                <a:latin typeface="Calibri"/>
              </a:rPr>
              <a:t>Forces pulling toward a shared asset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Dependency.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Your value depends on an asset another division owns. Own that asset yourself, and your upside is their commitment, not your roadmap.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Threshold.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The asset is lumpy. It exists only above a funding line no single owner can justify alone — so it is built jointly or not at all.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Duplication.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Left alone, divisions build the same capability twice, and no one sees the waste from inside their own plan.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6000" y="2360000"/>
            <a:ext cx="5366000" cy="3760000"/>
          </a:xfrm>
          <a:prstGeom prst="roundRect">
            <a:avLst>
              <a:gd name="adj" fmla="val 3500"/>
            </a:avLst>
          </a:prstGeom>
          <a:solidFill>
            <a:srgbClr val="1A2337"/>
          </a:solidFill>
          <a:ln w="12700">
            <a:solidFill>
              <a:srgbClr val="F068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0000" rIns="300000" tIns="260000" bIns="20000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0685F"/>
                </a:solidFill>
                <a:latin typeface="Calibri"/>
              </a:rPr>
              <a:t>WHY THEY DEFEND THEIR PLAN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250" b="0" i="1">
                <a:solidFill>
                  <a:srgbClr val="6E7C94"/>
                </a:solidFill>
                <a:latin typeface="Calibri"/>
              </a:rPr>
              <a:t>Forces pulling each owner back to their own P&amp;L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Timing.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Cannot take this much change this fast. A capacity problem, not a size one.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Head start.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Already ahead, and unwilling to fund the others catching up.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Standing.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Will not dissolve a hard-won lead into a shared, equal asset.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Trust.  </a:t>
            </a:r>
            <a:r>
              <a:rPr sz="1400" b="0" i="0">
                <a:solidFill>
                  <a:srgbClr val="9AA7BD"/>
                </a:solidFill>
                <a:latin typeface="Calibri"/>
              </a:rPr>
              <a:t>Ate the cost of the last central mandate, and expects to again.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0000" y="6300000"/>
            <a:ext cx="10972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FD9A0"/>
                </a:solidFill>
                <a:latin typeface="Calibri"/>
              </a:rPr>
              <a:t>Win the left in principle for free. You only get a number by answering the right.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1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0000" y="430000"/>
            <a:ext cx="10972000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6E7C94"/>
                </a:solidFill>
                <a:latin typeface="Calibri"/>
              </a:rPr>
              <a:t>T H E   F R A M E W O R K ,   A P P L I E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0000" y="720000"/>
            <a:ext cx="1097200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Calibri Light"/>
              </a:rPr>
              <a:t>Diagnose the blocker. Deploy the one move that answers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0000" y="1470000"/>
            <a:ext cx="10972000" cy="5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9AA7BD"/>
                </a:solidFill>
                <a:latin typeface="Calibri"/>
              </a:rPr>
              <a:t>Reach for money by default and you overpay for three blockers out of four — and still miss them. </a:t>
            </a:r>
            <a:r>
              <a:rPr sz="1650" b="1" i="0">
                <a:solidFill>
                  <a:srgbClr val="FFFFFF"/>
                </a:solidFill>
                <a:latin typeface="Calibri"/>
              </a:rPr>
              <a:t>Match the move to the block.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0000" y="2200000"/>
          <a:ext cx="10972000" cy="389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0000"/>
                <a:gridCol w="2320000"/>
                <a:gridCol w="5092000"/>
              </a:tblGrid>
              <a:tr h="470000"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6E7C94"/>
                          </a:solidFill>
                          <a:latin typeface="Calibri"/>
                        </a:rPr>
                        <a:t>THE BLOCKER  —  what you hear</a:t>
                      </a:r>
                    </a:p>
                  </a:txBody>
                  <a:tcPr anchor="ctr">
                    <a:solidFill>
                      <a:srgbClr val="121B2E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6E7C94"/>
                          </a:solidFill>
                          <a:latin typeface="Calibri"/>
                        </a:rPr>
                        <a:t>WHAT IT REALLY IS</a:t>
                      </a:r>
                    </a:p>
                  </a:txBody>
                  <a:tcPr anchor="ctr">
                    <a:solidFill>
                      <a:srgbClr val="121B2E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6E7C94"/>
                          </a:solidFill>
                          <a:latin typeface="Calibri"/>
                        </a:rPr>
                        <a:t>THE MOVE THAT BUYS THEM IN</a:t>
                      </a:r>
                    </a:p>
                  </a:txBody>
                  <a:tcPr anchor="ctr">
                    <a:solidFill>
                      <a:srgbClr val="121B2E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</a:tr>
              <a:tr h="857000"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"We can’t absorb this now."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A33D"/>
                          </a:solidFill>
                          <a:latin typeface="Calibri"/>
                        </a:rPr>
                        <a:t>Timing, not size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>
                          <a:solidFill>
                            <a:srgbClr val="3FD9A0"/>
                          </a:solidFill>
                          <a:latin typeface="Calibri"/>
                        </a:rPr>
                        <a:t>SEQUENCE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>
                          <a:solidFill>
                            <a:srgbClr val="9AA7BD"/>
                          </a:solidFill>
                          <a:latin typeface="Calibri"/>
                        </a:rPr>
                        <a:t>Commit the full number; stage the clock so the change lands after the crunch.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</a:tr>
              <a:tr h="857000"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"We’re ahead — why help them catch up?"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FC3D9"/>
                          </a:solidFill>
                          <a:latin typeface="Calibri"/>
                        </a:rPr>
                        <a:t>A paid-for head start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>
                          <a:solidFill>
                            <a:srgbClr val="3FD9A0"/>
                          </a:solidFill>
                          <a:latin typeface="Calibri"/>
                        </a:rPr>
                        <a:t>PRICE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>
                          <a:solidFill>
                            <a:srgbClr val="9AA7BD"/>
                          </a:solidFill>
                          <a:latin typeface="Calibri"/>
                        </a:rPr>
                        <a:t>Credit what they already built and guarantee them the demand, so sharing pays.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</a:tr>
              <a:tr h="857000"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"Why dissolve our lead into a shared asset?"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4FC3D9"/>
                          </a:solidFill>
                          <a:latin typeface="Calibri"/>
                        </a:rPr>
                        <a:t>Standing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>
                          <a:solidFill>
                            <a:srgbClr val="3FD9A0"/>
                          </a:solidFill>
                          <a:latin typeface="Calibri"/>
                        </a:rPr>
                        <a:t>STATUS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>
                          <a:solidFill>
                            <a:srgbClr val="9AA7BD"/>
                          </a:solidFill>
                          <a:latin typeface="Calibri"/>
                        </a:rPr>
                        <a:t>Make them the owner the others build on — they keep the lead as they share it.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</a:tr>
              <a:tr h="857000"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50" b="1" i="0">
                          <a:solidFill>
                            <a:srgbClr val="FFFFFF"/>
                          </a:solidFill>
                          <a:latin typeface="Calibri"/>
                        </a:rPr>
                        <a:t>"Last time, we ate the cost."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A78BFA"/>
                          </a:solidFill>
                          <a:latin typeface="Calibri"/>
                        </a:rPr>
                        <a:t>Broken trust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  <a:tc>
                  <a:txBody>
                    <a:bodyPr wrap="square" lIns="150000" rIns="150000" tIns="90000" bIns="9000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sz="1500" b="1" i="0">
                          <a:solidFill>
                            <a:srgbClr val="3FD9A0"/>
                          </a:solidFill>
                          <a:latin typeface="Calibri"/>
                        </a:rPr>
                        <a:t>UNDERWRITE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0" i="0">
                          <a:solidFill>
                            <a:srgbClr val="9AA7BD"/>
                          </a:solidFill>
                          <a:latin typeface="Calibri"/>
                        </a:rPr>
                        <a:t>Cap the downside, cover the migration, guarantee access — in writing, before the pledge.</a:t>
                      </a:r>
                    </a:p>
                  </a:txBody>
                  <a:tcPr anchor="ctr">
                    <a:solidFill>
                      <a:srgbClr val="1A2337"/>
                    </a:solidFill>
                    <a:lnB w="9525" cap="flat">
                      <a:solidFill>
                        <a:srgbClr val="27334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0000" y="6320000"/>
            <a:ext cx="10972000" cy="3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3FD9A0"/>
                </a:solidFill>
                <a:latin typeface="Calibri"/>
              </a:rPr>
              <a:t>One stakeholder can carry more than one blocker. Answer every one, or the commitment never comes.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