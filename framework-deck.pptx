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0000" y="720000"/>
            <a:ext cx="10972000" cy="1141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b="0" i="0" dirty="0">
                <a:solidFill>
                  <a:srgbClr val="FFFFFF"/>
                </a:solidFill>
                <a:latin typeface="Calibri Light"/>
              </a:rPr>
              <a:t>There are opposing and supporting forces for collaboration</a:t>
            </a:r>
            <a:endParaRPr sz="3700" b="0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0000" y="2360000"/>
            <a:ext cx="5366000" cy="3760000"/>
          </a:xfrm>
          <a:prstGeom prst="roundRect">
            <a:avLst>
              <a:gd name="adj" fmla="val 3500"/>
            </a:avLst>
          </a:prstGeom>
          <a:solidFill>
            <a:srgbClr val="1A2337"/>
          </a:solidFill>
          <a:ln w="12700">
            <a:solidFill>
              <a:srgbClr val="3F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0" tIns="260000" rIns="300000" bIns="20000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400" b="1" i="0" dirty="0">
                <a:solidFill>
                  <a:srgbClr val="3FD9A0"/>
                </a:solidFill>
                <a:latin typeface="Calibri"/>
              </a:rPr>
              <a:t>Supporting forces for collaboration </a:t>
            </a:r>
            <a:endParaRPr sz="1400" b="1" i="0" dirty="0">
              <a:solidFill>
                <a:srgbClr val="3FD9A0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1250" b="0" i="1" dirty="0">
                <a:solidFill>
                  <a:srgbClr val="6E7C94"/>
                </a:solidFill>
                <a:latin typeface="Calibri"/>
              </a:rPr>
              <a:t>Forces pulling toward a shared asset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Dependency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n-US" sz="1400" b="0" i="0" dirty="0">
                <a:solidFill>
                  <a:srgbClr val="9AA7BD"/>
                </a:solidFill>
                <a:latin typeface="Calibri"/>
              </a:rPr>
              <a:t>Value realization depends on an asset another division owns — and once agents hand work to each other, no one can test the chain they do not own.</a:t>
            </a:r>
            <a:r>
              <a:rPr sz="1400" b="0" i="0" dirty="0">
                <a:solidFill>
                  <a:srgbClr val="9AA7BD"/>
                </a:solidFill>
                <a:latin typeface="Calibri"/>
              </a:rPr>
              <a:t/>
            </a:r>
            <a:endParaRPr lang="en-US" sz="1400" b="0" i="0" dirty="0">
              <a:solidFill>
                <a:srgbClr val="9AA7BD"/>
              </a:solidFill>
              <a:latin typeface="Calibr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Threshold</a:t>
            </a: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: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en-US" sz="1400" b="0" i="0" dirty="0">
                <a:solidFill>
                  <a:srgbClr val="9AA7BD"/>
                </a:solidFill>
                <a:latin typeface="Calibri"/>
              </a:rPr>
              <a:t>Funding AI platforms require a minimum funding and quality threshold that </a:t>
            </a:r>
            <a:r>
              <a:rPr sz="1400" b="0" i="0" dirty="0">
                <a:solidFill>
                  <a:srgbClr val="9AA7BD"/>
                </a:solidFill>
                <a:latin typeface="Calibri"/>
              </a:rPr>
              <a:t>no single owner can </a:t>
            </a:r>
            <a:r>
              <a:rPr lang="en-US" sz="1400" b="0" i="0" dirty="0">
                <a:solidFill>
                  <a:srgbClr val="9AA7BD"/>
                </a:solidFill>
                <a:latin typeface="Calibri"/>
              </a:rPr>
              <a:t>own alone, so it must be built jointly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Duplication:  </a:t>
            </a:r>
            <a:r>
              <a:rPr lang="en-US" sz="1400" b="0" i="0" dirty="0">
                <a:solidFill>
                  <a:srgbClr val="9AA7BD"/>
                </a:solidFill>
                <a:latin typeface="Calibri"/>
              </a:rPr>
              <a:t>Left alone, divisions build the same capability twice, and no one sees the waste from inside their own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000" y="2360000"/>
            <a:ext cx="5366000" cy="3760000"/>
          </a:xfrm>
          <a:prstGeom prst="roundRect">
            <a:avLst>
              <a:gd name="adj" fmla="val 3500"/>
            </a:avLst>
          </a:prstGeom>
          <a:solidFill>
            <a:srgbClr val="1A2337"/>
          </a:solidFill>
          <a:ln w="12700">
            <a:solidFill>
              <a:srgbClr val="F06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0" tIns="260000" rIns="300000" bIns="20000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400" b="1" i="0" dirty="0">
                <a:solidFill>
                  <a:srgbClr val="F0685F"/>
                </a:solidFill>
                <a:latin typeface="Calibri"/>
              </a:rPr>
              <a:t>Opposing forces for collaboration </a:t>
            </a:r>
            <a:endParaRPr sz="1400" b="1" i="0" dirty="0">
              <a:solidFill>
                <a:srgbClr val="F0685F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1" dirty="0">
                <a:solidFill>
                  <a:srgbClr val="6E7C94"/>
                </a:solidFill>
                <a:latin typeface="Calibri"/>
              </a:rPr>
              <a:t>Forces pulling each owner back to their own P&amp;L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Absorption: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400" b="0" i="0" dirty="0">
                <a:solidFill>
                  <a:srgbClr val="9AA7BD"/>
                </a:solidFill>
                <a:latin typeface="Calibri"/>
              </a:rPr>
              <a:t>Cannot </a:t>
            </a:r>
            <a:r>
              <a:rPr lang="en-US" sz="1400" b="0" i="0" dirty="0">
                <a:solidFill>
                  <a:srgbClr val="9AA7BD"/>
                </a:solidFill>
                <a:latin typeface="Calibri"/>
              </a:rPr>
              <a:t>absorb high rate of change quickly, this is a timing constraint </a:t>
            </a:r>
            <a:endParaRPr sz="1400" b="0" i="0" dirty="0">
              <a:solidFill>
                <a:srgbClr val="9AA7BD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Advantage: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400" b="0" i="0" dirty="0">
                <a:solidFill>
                  <a:srgbClr val="9AA7BD"/>
                </a:solidFill>
                <a:latin typeface="Calibri"/>
              </a:rPr>
              <a:t>Already ahead — it got there first because it was the most technically mature — and unwilling to fund the others catching up.</a:t>
            </a:r>
            <a:endParaRPr lang="en-US" sz="1400" b="0" i="0" dirty="0">
              <a:solidFill>
                <a:srgbClr val="9AA7BD"/>
              </a:solidFill>
              <a:latin typeface="Calibri"/>
            </a:endParaRP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lang="en-US" sz="1500" b="1" dirty="0">
                <a:solidFill>
                  <a:srgbClr val="FFFFFF"/>
                </a:solidFill>
              </a:rPr>
              <a:t>Assurance:  </a:t>
            </a:r>
            <a:r>
              <a:rPr lang="en-US" sz="1400" dirty="0">
                <a:solidFill>
                  <a:srgbClr val="9AA7BD"/>
                </a:solidFill>
              </a:rPr>
              <a:t>Low trust in upside potential and wider organization </a:t>
            </a:r>
            <a:endParaRPr sz="1400" b="0" i="0" dirty="0">
              <a:solidFill>
                <a:srgbClr val="9AA7BD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Standin</a:t>
            </a: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g: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400" b="0" i="0" dirty="0">
                <a:solidFill>
                  <a:srgbClr val="9AA7BD"/>
                </a:solidFill>
                <a:latin typeface="Calibri"/>
              </a:rPr>
              <a:t>Will not dissolve a hard-won lead into a shared asset whose rules someone else 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0000" y="720000"/>
            <a:ext cx="10972000" cy="10490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0" i="0" dirty="0">
                <a:solidFill>
                  <a:srgbClr val="FFFFFF"/>
                </a:solidFill>
                <a:latin typeface="Calibri Light"/>
              </a:rPr>
              <a:t>Each blocker requires a specific enterprise mandate and it’s not all about money  </a:t>
            </a:r>
            <a:endParaRPr sz="3400" b="0" i="0" dirty="0">
              <a:solidFill>
                <a:srgbClr val="FFFFFF"/>
              </a:solidFill>
              <a:latin typeface="Calibri Ligh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53929"/>
              </p:ext>
            </p:extLst>
          </p:nvPr>
        </p:nvGraphicFramePr>
        <p:xfrm>
          <a:off x="610000" y="2200000"/>
          <a:ext cx="10972000" cy="389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 i="0" dirty="0">
                          <a:solidFill>
                            <a:srgbClr val="6E7C94"/>
                          </a:solidFill>
                          <a:latin typeface="Calibri"/>
                        </a:rPr>
                        <a:t>Internal division dialogue </a:t>
                      </a:r>
                      <a:endParaRPr sz="1150" b="1" i="0" dirty="0">
                        <a:solidFill>
                          <a:srgbClr val="6E7C94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 i="0" dirty="0">
                          <a:solidFill>
                            <a:srgbClr val="6E7C94"/>
                          </a:solidFill>
                          <a:latin typeface="Calibri"/>
                        </a:rPr>
                        <a:t>What it really is </a:t>
                      </a:r>
                      <a:endParaRPr sz="1150" b="1" i="0" dirty="0">
                        <a:solidFill>
                          <a:srgbClr val="6E7C94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 i="0" dirty="0">
                          <a:solidFill>
                            <a:srgbClr val="6E7C94"/>
                          </a:solidFill>
                          <a:latin typeface="Calibri"/>
                        </a:rPr>
                        <a:t>Effective enterprise mandate </a:t>
                      </a:r>
                      <a:endParaRPr sz="1150" b="1" i="0" dirty="0">
                        <a:solidFill>
                          <a:srgbClr val="6E7C94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"We </a:t>
                      </a:r>
                      <a:r>
                        <a:rPr lang="en-US" sz="15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can’t deviate from our plan now</a:t>
                      </a:r>
                      <a:r>
                        <a:rPr sz="15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."</a:t>
                      </a: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Calibri"/>
                        </a:rPr>
                        <a:t>Absorption</a:t>
                      </a:r>
                      <a:r>
                        <a:rPr lang="en-US" sz="1400" b="1" i="0" dirty="0">
                          <a:solidFill>
                            <a:srgbClr val="E8A33D"/>
                          </a:solidFill>
                          <a:latin typeface="Calibri"/>
                        </a:rPr>
                        <a:t> </a:t>
                      </a:r>
                      <a:endParaRPr sz="1400" b="1" i="0" dirty="0">
                        <a:solidFill>
                          <a:srgbClr val="E8A33D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 i="0" dirty="0">
                          <a:solidFill>
                            <a:srgbClr val="3FD9A0"/>
                          </a:solidFill>
                          <a:latin typeface="Calibri"/>
                        </a:rPr>
                        <a:t>SEQUENCE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Stage commitments </a:t>
                      </a:r>
                      <a:r>
                        <a:rPr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so the change lands </a:t>
                      </a:r>
                      <a:r>
                        <a:rPr lang="en-US"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after crunch periods </a:t>
                      </a:r>
                      <a:endParaRPr sz="1350" b="0" i="0" dirty="0">
                        <a:solidFill>
                          <a:srgbClr val="9AA7BD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"We’re ahead — why help them catch up?"</a:t>
                      </a: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Calibri"/>
                        </a:rPr>
                        <a:t>Advantage</a:t>
                      </a:r>
                      <a:endParaRPr sz="1400" b="1" i="0" dirty="0">
                        <a:solidFill>
                          <a:srgbClr val="C00000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 i="0" dirty="0">
                          <a:solidFill>
                            <a:srgbClr val="3FD9A0"/>
                          </a:solidFill>
                          <a:latin typeface="Calibri"/>
                        </a:rPr>
                        <a:t>PRICE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Credit what they already built and guarantee them the demand, so sharing </a:t>
                      </a:r>
                      <a:r>
                        <a:rPr lang="en-US"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benefits them</a:t>
                      </a:r>
                      <a:endParaRPr sz="1350" b="0" i="0" dirty="0">
                        <a:solidFill>
                          <a:srgbClr val="9AA7BD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"</a:t>
                      </a:r>
                      <a:r>
                        <a:rPr lang="en-US" sz="15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Commitments last time were not followed through” </a:t>
                      </a:r>
                      <a:endParaRPr sz="15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Calibri"/>
                        </a:rPr>
                        <a:t>Assurance</a:t>
                      </a:r>
                      <a:endParaRPr sz="1400" b="1" i="0" dirty="0">
                        <a:solidFill>
                          <a:srgbClr val="C00000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 i="0" dirty="0">
                          <a:solidFill>
                            <a:srgbClr val="3FD9A0"/>
                          </a:solidFill>
                          <a:latin typeface="Calibri"/>
                        </a:rPr>
                        <a:t>UNDERWRITE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Cap the downside, cover the migration</a:t>
                      </a:r>
                      <a:r>
                        <a:rPr lang="en-US"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 and</a:t>
                      </a:r>
                      <a:r>
                        <a:rPr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 guarantee access</a:t>
                      </a: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FFFFFF"/>
                          </a:solidFill>
                          <a:latin typeface="Calibri"/>
                        </a:rPr>
                        <a:t>"Why dissolve our lead into a shared asset?"</a:t>
                      </a: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dirty="0">
                          <a:solidFill>
                            <a:srgbClr val="C00000"/>
                          </a:solidFill>
                          <a:latin typeface="Calibri"/>
                        </a:rPr>
                        <a:t>Standing</a:t>
                      </a: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 i="0" dirty="0">
                          <a:solidFill>
                            <a:srgbClr val="3FD9A0"/>
                          </a:solidFill>
                          <a:latin typeface="Calibri"/>
                        </a:rPr>
                        <a:t>STATUS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Make them the owner the others build on</a:t>
                      </a:r>
                      <a:r>
                        <a:rPr lang="en-US" sz="1350" b="0" i="0" dirty="0">
                          <a:solidFill>
                            <a:srgbClr val="9AA7BD"/>
                          </a:solidFill>
                          <a:latin typeface="Calibri"/>
                        </a:rPr>
                        <a:t> — and the one who sets the rules those agents run by</a:t>
                      </a:r>
                      <a:endParaRPr sz="1350" b="0" i="0" dirty="0">
                        <a:solidFill>
                          <a:srgbClr val="9AA7BD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A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6838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266</Words>
  <Application>Microsoft Macintosh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Ganglani</cp:lastModifiedBy>
  <cp:revision>5</cp:revision>
  <dcterms:created xsi:type="dcterms:W3CDTF">2013-01-27T09:14:16Z</dcterms:created>
  <dcterms:modified xsi:type="dcterms:W3CDTF">2026-09-11T00:57:51Z</dcterms:modified>
  <cp:category/>
</cp:coreProperties>
</file>