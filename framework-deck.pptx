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slide. Three operating groups, each with its own P&amp;L, its own planning rhythm, its own technical maturity. The CIO has run a live agentic demo; everyone agreed the opportunity was real. Point to make: the capital is centrally held, but the target cannot be. Only a P&amp;L owner can put a number in a plan. The thesis to land here: agentic value concentrates on the boundaries between divisions — which is exactly where nobody has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mechanic in under two minutes, then run it. Every division's objection is on the board from the start; the block behind it is not, and diagnosing it is the whole exercise. Three moves, one for each block — a wrong move costs its full price and buys nothing. The $110.50M: the cross-boundary pool is $95M and everything realises at 55% while the shared layer is unfunded, so the third pledge is worth far more than it costs. Expect the room to reach for PRICE on everybody; it lands on exactly one of the three. Expect the enterprise number to fall as the first two divisions commit. Do not rescue it — that result is the teaching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transferable slide — nothing on it is specific to this case. Top half: the forces that make collaborating worth it. They are structural, they are shared, and they are almost never disputed. Everyone in the room agrees the shared asset should exist. That is why agreement in principle is cheap and always available. Bottom half is where the work is. Resistance is not one thing. Absorption is a question of WHEN, Advantage a question of WHAT IT COSTS THEM, Assurance a question of WHETHER THEY BELIEVE YOU. Each has one move that works and two that do not. The classic failure: someone objects on absorption grounds and the room responds by re-arguing the size of the prize — answering a question nobody asked. Both sides leave convinced the other is bargaining in bad faith. One caveat worth saying out loud: there is a fourth kind of block that no move fixes — concerns entirely real to one division and unpriceable by everyone else. Name those and take them off the table early, or they contaminate everything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previous slide's diagnostic on the room, one row at a time, left to right. The pull column is deliberately repetitive: two groups are dependent, the third is the one they depend on. Everybody needs the deal. That is never the problem. The block column is the diagnosis, and here it comes out one of each — timing, property, trust. The move column is the payoff. Notice these are three genuinely different deals: one is a schedule concession, one is a commercial position, one is a guarantee. A single uniform offer to all three fails all three. Transfer question for the room: which of the three are you, and which block are you actually arguing? Caveat to keep honest: the blocks land one-per-group here because the case was written that way. In a real room two divisions are often blocked identically — the diagnostic still works, the deals just collapse into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26"/>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000" b="1" spc="220" kern="0" dirty="0">
                <a:solidFill>
                  <a:srgbClr val="6E7C94"/>
                </a:solidFill>
                <a:latin typeface="Arial" pitchFamily="34" charset="0"/>
                <a:ea typeface="Arial" pitchFamily="34" charset="-122"/>
                <a:cs typeface="Arial" pitchFamily="34" charset="-120"/>
              </a:rPr>
              <a:t>ASTER LIFE SCIENCES  ·  GLOBAL CLINICAL OPERATIONS CENTER  ·  MID-2026</a:t>
            </a:r>
            <a:endParaRPr lang="en-US" sz="1000" dirty="0"/>
          </a:p>
        </p:txBody>
      </p:sp>
      <p:sp>
        <p:nvSpPr>
          <p:cNvPr id="3" name="Text 1"/>
          <p:cNvSpPr txBox="1"/>
          <p:nvPr/>
        </p:nvSpPr>
        <p:spPr>
          <a:xfrm>
            <a:off x="548640" y="731520"/>
            <a:ext cx="10607040" cy="1051560"/>
          </a:xfrm>
          <a:prstGeom prst="rect">
            <a:avLst/>
          </a:prstGeom>
          <a:noFill/>
          <a:ln/>
        </p:spPr>
        <p:txBody>
          <a:bodyPr wrap="square" lIns="0" tIns="0" rIns="0" bIns="0" rtlCol="0" anchor="t"/>
          <a:lstStyle/>
          <a:p>
            <a:pPr indent="0" marL="0">
              <a:lnSpc>
                <a:spcPts val="4200"/>
              </a:lnSpc>
              <a:buNone/>
            </a:pPr>
            <a:r>
              <a:rPr lang="en-US" sz="3400" b="1" dirty="0">
                <a:solidFill>
                  <a:srgbClr val="FFFFFF"/>
                </a:solidFill>
                <a:latin typeface="Arial" pitchFamily="34" charset="0"/>
                <a:ea typeface="Arial" pitchFamily="34" charset="-122"/>
                <a:cs typeface="Arial" pitchFamily="34" charset="-120"/>
              </a:rPr>
              <a:t>Everyone agreed the opportunity was real.</a:t>
            </a:r>
            <a:endParaRPr lang="en-US" sz="3400" dirty="0"/>
          </a:p>
          <a:p>
            <a:pPr indent="0" marL="0">
              <a:lnSpc>
                <a:spcPts val="4200"/>
              </a:lnSpc>
              <a:buNone/>
            </a:pPr>
            <a:r>
              <a:rPr lang="en-US" sz="3400" b="1" dirty="0">
                <a:solidFill>
                  <a:srgbClr val="FFFFFF"/>
                </a:solidFill>
                <a:latin typeface="Arial" pitchFamily="34" charset="0"/>
                <a:ea typeface="Arial" pitchFamily="34" charset="-122"/>
                <a:cs typeface="Arial" pitchFamily="34" charset="-120"/>
              </a:rPr>
              <a:t>Nobody agreed who commits.</a:t>
            </a:r>
            <a:endParaRPr lang="en-US" sz="3400" dirty="0"/>
          </a:p>
        </p:txBody>
      </p:sp>
      <p:sp>
        <p:nvSpPr>
          <p:cNvPr id="4" name="Shape 2"/>
          <p:cNvSpPr/>
          <p:nvPr/>
        </p:nvSpPr>
        <p:spPr>
          <a:xfrm>
            <a:off x="548640" y="2103120"/>
            <a:ext cx="3502152" cy="1691640"/>
          </a:xfrm>
          <a:prstGeom prst="roundRect">
            <a:avLst>
              <a:gd name="adj" fmla="val 3243"/>
            </a:avLst>
          </a:prstGeom>
          <a:solidFill>
            <a:srgbClr val="1A2337"/>
          </a:solidFill>
          <a:ln w="9525">
            <a:solidFill>
              <a:srgbClr val="27334B"/>
            </a:solidFill>
            <a:prstDash val="solid"/>
          </a:ln>
        </p:spPr>
      </p:sp>
      <p:sp>
        <p:nvSpPr>
          <p:cNvPr id="5" name="Shape 3"/>
          <p:cNvSpPr/>
          <p:nvPr/>
        </p:nvSpPr>
        <p:spPr>
          <a:xfrm>
            <a:off x="804672" y="2377440"/>
            <a:ext cx="132588" cy="132588"/>
          </a:xfrm>
          <a:prstGeom prst="ellipse">
            <a:avLst/>
          </a:prstGeom>
          <a:solidFill>
            <a:srgbClr val="E8A33D"/>
          </a:solidFill>
          <a:ln w="12700">
            <a:solidFill>
              <a:srgbClr val="333333"/>
            </a:solidFill>
            <a:prstDash val="solid"/>
          </a:ln>
        </p:spPr>
      </p:sp>
      <p:sp>
        <p:nvSpPr>
          <p:cNvPr id="6" name="Text 4"/>
          <p:cNvSpPr txBox="1"/>
          <p:nvPr/>
        </p:nvSpPr>
        <p:spPr>
          <a:xfrm>
            <a:off x="1033272" y="2304288"/>
            <a:ext cx="2770632" cy="27432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Site Operations</a:t>
            </a:r>
            <a:endParaRPr lang="en-US" sz="1400" dirty="0"/>
          </a:p>
        </p:txBody>
      </p:sp>
      <p:sp>
        <p:nvSpPr>
          <p:cNvPr id="7" name="Text 5"/>
          <p:cNvSpPr txBox="1"/>
          <p:nvPr/>
        </p:nvSpPr>
        <p:spPr>
          <a:xfrm>
            <a:off x="804672" y="2670048"/>
            <a:ext cx="2990088" cy="566928"/>
          </a:xfrm>
          <a:prstGeom prst="rect">
            <a:avLst/>
          </a:prstGeom>
          <a:noFill/>
          <a:ln/>
        </p:spPr>
        <p:txBody>
          <a:bodyPr wrap="square" lIns="0" tIns="0" rIns="0" bIns="0" rtlCol="0" anchor="t"/>
          <a:lstStyle/>
          <a:p>
            <a:pPr indent="0" marL="0">
              <a:lnSpc>
                <a:spcPts val="1400"/>
              </a:lnSpc>
              <a:buNone/>
            </a:pPr>
            <a:r>
              <a:rPr lang="en-US" sz="1050" dirty="0">
                <a:solidFill>
                  <a:srgbClr val="9AA7BD"/>
                </a:solidFill>
                <a:latin typeface="Calibri" pitchFamily="34" charset="0"/>
                <a:ea typeface="Calibri" pitchFamily="34" charset="-122"/>
                <a:cs typeface="Calibri" pitchFamily="34" charset="-120"/>
              </a:rPr>
              <a:t>Largest group. Runs the site and hospital network that executes the trials.</a:t>
            </a:r>
            <a:endParaRPr lang="en-US" sz="1050" dirty="0"/>
          </a:p>
        </p:txBody>
      </p:sp>
      <p:sp>
        <p:nvSpPr>
          <p:cNvPr id="8" name="Text 6"/>
          <p:cNvSpPr txBox="1"/>
          <p:nvPr/>
        </p:nvSpPr>
        <p:spPr>
          <a:xfrm>
            <a:off x="804672" y="3328416"/>
            <a:ext cx="2990088"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$140M local pool   ·   $26M platform capital needed</a:t>
            </a:r>
            <a:endParaRPr lang="en-US" sz="1000" dirty="0"/>
          </a:p>
        </p:txBody>
      </p:sp>
      <p:sp>
        <p:nvSpPr>
          <p:cNvPr id="9" name="Shape 7"/>
          <p:cNvSpPr/>
          <p:nvPr/>
        </p:nvSpPr>
        <p:spPr>
          <a:xfrm>
            <a:off x="4343400" y="2103120"/>
            <a:ext cx="3502152" cy="1691640"/>
          </a:xfrm>
          <a:prstGeom prst="roundRect">
            <a:avLst>
              <a:gd name="adj" fmla="val 3243"/>
            </a:avLst>
          </a:prstGeom>
          <a:solidFill>
            <a:srgbClr val="1A2337"/>
          </a:solidFill>
          <a:ln w="9525">
            <a:solidFill>
              <a:srgbClr val="27334B"/>
            </a:solidFill>
            <a:prstDash val="solid"/>
          </a:ln>
        </p:spPr>
      </p:sp>
      <p:sp>
        <p:nvSpPr>
          <p:cNvPr id="10" name="Shape 8"/>
          <p:cNvSpPr/>
          <p:nvPr/>
        </p:nvSpPr>
        <p:spPr>
          <a:xfrm>
            <a:off x="4599432" y="2377440"/>
            <a:ext cx="132588" cy="132588"/>
          </a:xfrm>
          <a:prstGeom prst="ellipse">
            <a:avLst/>
          </a:prstGeom>
          <a:solidFill>
            <a:srgbClr val="4FC3D9"/>
          </a:solidFill>
          <a:ln w="12700">
            <a:solidFill>
              <a:srgbClr val="333333"/>
            </a:solidFill>
            <a:prstDash val="solid"/>
          </a:ln>
        </p:spPr>
      </p:sp>
      <p:sp>
        <p:nvSpPr>
          <p:cNvPr id="11" name="Text 9"/>
          <p:cNvSpPr txBox="1"/>
          <p:nvPr/>
        </p:nvSpPr>
        <p:spPr>
          <a:xfrm>
            <a:off x="4828032" y="2304288"/>
            <a:ext cx="2770632" cy="274320"/>
          </a:xfrm>
          <a:prstGeom prst="rect">
            <a:avLst/>
          </a:prstGeom>
          <a:noFill/>
          <a:ln/>
        </p:spPr>
        <p:txBody>
          <a:bodyPr wrap="square" lIns="0" tIns="0" rIns="0" bIns="0" rtlCol="0" anchor="ctr"/>
          <a:lstStyle/>
          <a:p>
            <a:pPr indent="0" marL="0">
              <a:buNone/>
            </a:pPr>
            <a:r>
              <a:rPr lang="en-US" sz="1400" b="1" dirty="0">
                <a:solidFill>
                  <a:srgbClr val="4FC3D9"/>
                </a:solidFill>
                <a:latin typeface="Arial" pitchFamily="34" charset="0"/>
                <a:ea typeface="Arial" pitchFamily="34" charset="-122"/>
                <a:cs typeface="Arial" pitchFamily="34" charset="-120"/>
              </a:rPr>
              <a:t>Data &amp; Analytics</a:t>
            </a:r>
            <a:endParaRPr lang="en-US" sz="1400" dirty="0"/>
          </a:p>
        </p:txBody>
      </p:sp>
      <p:sp>
        <p:nvSpPr>
          <p:cNvPr id="12" name="Text 10"/>
          <p:cNvSpPr txBox="1"/>
          <p:nvPr/>
        </p:nvSpPr>
        <p:spPr>
          <a:xfrm>
            <a:off x="4599432" y="2670048"/>
            <a:ext cx="2990088" cy="566928"/>
          </a:xfrm>
          <a:prstGeom prst="rect">
            <a:avLst/>
          </a:prstGeom>
          <a:noFill/>
          <a:ln/>
        </p:spPr>
        <p:txBody>
          <a:bodyPr wrap="square" lIns="0" tIns="0" rIns="0" bIns="0" rtlCol="0" anchor="t"/>
          <a:lstStyle/>
          <a:p>
            <a:pPr indent="0" marL="0">
              <a:lnSpc>
                <a:spcPts val="1400"/>
              </a:lnSpc>
              <a:buNone/>
            </a:pPr>
            <a:r>
              <a:rPr lang="en-US" sz="1050" dirty="0">
                <a:solidFill>
                  <a:srgbClr val="9AA7BD"/>
                </a:solidFill>
                <a:latin typeface="Calibri" pitchFamily="34" charset="0"/>
                <a:ea typeface="Calibri" pitchFamily="34" charset="-122"/>
                <a:cs typeface="Calibri" pitchFamily="34" charset="-120"/>
              </a:rPr>
              <a:t>Deep technical group. Collects, validates and analyses all trial data.</a:t>
            </a:r>
            <a:endParaRPr lang="en-US" sz="1050" dirty="0"/>
          </a:p>
        </p:txBody>
      </p:sp>
      <p:sp>
        <p:nvSpPr>
          <p:cNvPr id="13" name="Text 11"/>
          <p:cNvSpPr txBox="1"/>
          <p:nvPr/>
        </p:nvSpPr>
        <p:spPr>
          <a:xfrm>
            <a:off x="4599432" y="3328416"/>
            <a:ext cx="2990088"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$95M local pool   ·   $22M platform capital needed</a:t>
            </a:r>
            <a:endParaRPr lang="en-US" sz="1000" dirty="0"/>
          </a:p>
        </p:txBody>
      </p:sp>
      <p:sp>
        <p:nvSpPr>
          <p:cNvPr id="14" name="Shape 12"/>
          <p:cNvSpPr/>
          <p:nvPr/>
        </p:nvSpPr>
        <p:spPr>
          <a:xfrm>
            <a:off x="8138160" y="2103120"/>
            <a:ext cx="3502152" cy="1691640"/>
          </a:xfrm>
          <a:prstGeom prst="roundRect">
            <a:avLst>
              <a:gd name="adj" fmla="val 3243"/>
            </a:avLst>
          </a:prstGeom>
          <a:solidFill>
            <a:srgbClr val="1A2337"/>
          </a:solidFill>
          <a:ln w="9525">
            <a:solidFill>
              <a:srgbClr val="27334B"/>
            </a:solidFill>
            <a:prstDash val="solid"/>
          </a:ln>
        </p:spPr>
      </p:sp>
      <p:sp>
        <p:nvSpPr>
          <p:cNvPr id="15" name="Shape 13"/>
          <p:cNvSpPr/>
          <p:nvPr/>
        </p:nvSpPr>
        <p:spPr>
          <a:xfrm>
            <a:off x="8394192" y="2377440"/>
            <a:ext cx="132588" cy="132588"/>
          </a:xfrm>
          <a:prstGeom prst="ellipse">
            <a:avLst/>
          </a:prstGeom>
          <a:solidFill>
            <a:srgbClr val="A78BFA"/>
          </a:solidFill>
          <a:ln w="12700">
            <a:solidFill>
              <a:srgbClr val="333333"/>
            </a:solidFill>
            <a:prstDash val="solid"/>
          </a:ln>
        </p:spPr>
      </p:sp>
      <p:sp>
        <p:nvSpPr>
          <p:cNvPr id="16" name="Text 14"/>
          <p:cNvSpPr txBox="1"/>
          <p:nvPr/>
        </p:nvSpPr>
        <p:spPr>
          <a:xfrm>
            <a:off x="8622792" y="2304288"/>
            <a:ext cx="2770632" cy="274320"/>
          </a:xfrm>
          <a:prstGeom prst="rect">
            <a:avLst/>
          </a:prstGeom>
          <a:noFill/>
          <a:ln/>
        </p:spPr>
        <p:txBody>
          <a:bodyPr wrap="square" lIns="0" tIns="0" rIns="0" bIns="0" rtlCol="0" anchor="ctr"/>
          <a:lstStyle/>
          <a:p>
            <a:pPr indent="0" marL="0">
              <a:buNone/>
            </a:pPr>
            <a:r>
              <a:rPr lang="en-US" sz="1400" b="1" dirty="0">
                <a:solidFill>
                  <a:srgbClr val="A78BFA"/>
                </a:solidFill>
                <a:latin typeface="Arial" pitchFamily="34" charset="0"/>
                <a:ea typeface="Arial" pitchFamily="34" charset="-122"/>
                <a:cs typeface="Arial" pitchFamily="34" charset="-120"/>
              </a:rPr>
              <a:t>Patient Engagement</a:t>
            </a:r>
            <a:endParaRPr lang="en-US" sz="1400" dirty="0"/>
          </a:p>
        </p:txBody>
      </p:sp>
      <p:sp>
        <p:nvSpPr>
          <p:cNvPr id="17" name="Text 15"/>
          <p:cNvSpPr txBox="1"/>
          <p:nvPr/>
        </p:nvSpPr>
        <p:spPr>
          <a:xfrm>
            <a:off x="8394192" y="2670048"/>
            <a:ext cx="2990088" cy="566928"/>
          </a:xfrm>
          <a:prstGeom prst="rect">
            <a:avLst/>
          </a:prstGeom>
          <a:noFill/>
          <a:ln/>
        </p:spPr>
        <p:txBody>
          <a:bodyPr wrap="square" lIns="0" tIns="0" rIns="0" bIns="0" rtlCol="0" anchor="t"/>
          <a:lstStyle/>
          <a:p>
            <a:pPr indent="0" marL="0">
              <a:lnSpc>
                <a:spcPts val="1400"/>
              </a:lnSpc>
              <a:buNone/>
            </a:pPr>
            <a:r>
              <a:rPr lang="en-US" sz="1050" dirty="0">
                <a:solidFill>
                  <a:srgbClr val="9AA7BD"/>
                </a:solidFill>
                <a:latin typeface="Calibri" pitchFamily="34" charset="0"/>
                <a:ea typeface="Calibri" pitchFamily="34" charset="-122"/>
                <a:cs typeface="Calibri" pitchFamily="34" charset="-120"/>
              </a:rPr>
              <a:t>Smallest group. Finds, enrols and retains the patients.</a:t>
            </a:r>
            <a:endParaRPr lang="en-US" sz="1050" dirty="0"/>
          </a:p>
        </p:txBody>
      </p:sp>
      <p:sp>
        <p:nvSpPr>
          <p:cNvPr id="18" name="Text 16"/>
          <p:cNvSpPr txBox="1"/>
          <p:nvPr/>
        </p:nvSpPr>
        <p:spPr>
          <a:xfrm>
            <a:off x="8394192" y="3328416"/>
            <a:ext cx="2990088"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$70M local pool   ·   $12M platform capital needed</a:t>
            </a:r>
            <a:endParaRPr lang="en-US" sz="1000" dirty="0"/>
          </a:p>
        </p:txBody>
      </p:sp>
      <p:sp>
        <p:nvSpPr>
          <p:cNvPr id="19" name="Shape 17"/>
          <p:cNvSpPr/>
          <p:nvPr/>
        </p:nvSpPr>
        <p:spPr>
          <a:xfrm>
            <a:off x="548640" y="4041648"/>
            <a:ext cx="2587752" cy="896112"/>
          </a:xfrm>
          <a:prstGeom prst="roundRect">
            <a:avLst>
              <a:gd name="adj" fmla="val 6122"/>
            </a:avLst>
          </a:prstGeom>
          <a:solidFill>
            <a:srgbClr val="1A2337"/>
          </a:solidFill>
          <a:ln w="9525">
            <a:solidFill>
              <a:srgbClr val="27334B"/>
            </a:solidFill>
            <a:prstDash val="solid"/>
          </a:ln>
        </p:spPr>
      </p:sp>
      <p:sp>
        <p:nvSpPr>
          <p:cNvPr id="20" name="Text 18"/>
          <p:cNvSpPr txBox="1"/>
          <p:nvPr/>
        </p:nvSpPr>
        <p:spPr>
          <a:xfrm>
            <a:off x="786384" y="4160520"/>
            <a:ext cx="2130552" cy="384048"/>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$60M</a:t>
            </a:r>
            <a:endParaRPr lang="en-US" sz="2400" dirty="0"/>
          </a:p>
        </p:txBody>
      </p:sp>
      <p:sp>
        <p:nvSpPr>
          <p:cNvPr id="21" name="Text 19"/>
          <p:cNvSpPr txBox="1"/>
          <p:nvPr/>
        </p:nvSpPr>
        <p:spPr>
          <a:xfrm>
            <a:off x="786384" y="4553712"/>
            <a:ext cx="2130552" cy="29260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platform capital, over three years</a:t>
            </a:r>
            <a:endParaRPr lang="en-US" sz="950" dirty="0"/>
          </a:p>
        </p:txBody>
      </p:sp>
      <p:sp>
        <p:nvSpPr>
          <p:cNvPr id="22" name="Shape 20"/>
          <p:cNvSpPr/>
          <p:nvPr/>
        </p:nvSpPr>
        <p:spPr>
          <a:xfrm>
            <a:off x="3395167" y="4041648"/>
            <a:ext cx="2587752" cy="896112"/>
          </a:xfrm>
          <a:prstGeom prst="roundRect">
            <a:avLst>
              <a:gd name="adj" fmla="val 6122"/>
            </a:avLst>
          </a:prstGeom>
          <a:solidFill>
            <a:srgbClr val="1A2337"/>
          </a:solidFill>
          <a:ln w="9525">
            <a:solidFill>
              <a:srgbClr val="27334B"/>
            </a:solidFill>
            <a:prstDash val="solid"/>
          </a:ln>
        </p:spPr>
      </p:sp>
      <p:sp>
        <p:nvSpPr>
          <p:cNvPr id="23" name="Text 21"/>
          <p:cNvSpPr txBox="1"/>
          <p:nvPr/>
        </p:nvSpPr>
        <p:spPr>
          <a:xfrm>
            <a:off x="3632911" y="4160520"/>
            <a:ext cx="2130552" cy="384048"/>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$95M</a:t>
            </a:r>
            <a:endParaRPr lang="en-US" sz="2400" dirty="0"/>
          </a:p>
        </p:txBody>
      </p:sp>
      <p:sp>
        <p:nvSpPr>
          <p:cNvPr id="24" name="Text 22"/>
          <p:cNvSpPr txBox="1"/>
          <p:nvPr/>
        </p:nvSpPr>
        <p:spPr>
          <a:xfrm>
            <a:off x="3632911" y="4553712"/>
            <a:ext cx="2130552" cy="29260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cross-boundary value at stake</a:t>
            </a:r>
            <a:endParaRPr lang="en-US" sz="950" dirty="0"/>
          </a:p>
        </p:txBody>
      </p:sp>
      <p:sp>
        <p:nvSpPr>
          <p:cNvPr id="25" name="Shape 23"/>
          <p:cNvSpPr/>
          <p:nvPr/>
        </p:nvSpPr>
        <p:spPr>
          <a:xfrm>
            <a:off x="6241694" y="4041648"/>
            <a:ext cx="2587752" cy="896112"/>
          </a:xfrm>
          <a:prstGeom prst="roundRect">
            <a:avLst>
              <a:gd name="adj" fmla="val 6122"/>
            </a:avLst>
          </a:prstGeom>
          <a:solidFill>
            <a:srgbClr val="1A2337"/>
          </a:solidFill>
          <a:ln w="9525">
            <a:solidFill>
              <a:srgbClr val="27334B"/>
            </a:solidFill>
            <a:prstDash val="solid"/>
          </a:ln>
        </p:spPr>
      </p:sp>
      <p:sp>
        <p:nvSpPr>
          <p:cNvPr id="26" name="Text 24"/>
          <p:cNvSpPr txBox="1"/>
          <p:nvPr/>
        </p:nvSpPr>
        <p:spPr>
          <a:xfrm>
            <a:off x="6479438" y="4160520"/>
            <a:ext cx="2130552" cy="384048"/>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$250M</a:t>
            </a:r>
            <a:endParaRPr lang="en-US" sz="2400" dirty="0"/>
          </a:p>
        </p:txBody>
      </p:sp>
      <p:sp>
        <p:nvSpPr>
          <p:cNvPr id="27" name="Text 25"/>
          <p:cNvSpPr txBox="1"/>
          <p:nvPr/>
        </p:nvSpPr>
        <p:spPr>
          <a:xfrm>
            <a:off x="6479438" y="4553712"/>
            <a:ext cx="2130552" cy="29260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run-rate ambition — an ask, not a mandate</a:t>
            </a:r>
            <a:endParaRPr lang="en-US" sz="950" dirty="0"/>
          </a:p>
        </p:txBody>
      </p:sp>
      <p:sp>
        <p:nvSpPr>
          <p:cNvPr id="28" name="Shape 26"/>
          <p:cNvSpPr/>
          <p:nvPr/>
        </p:nvSpPr>
        <p:spPr>
          <a:xfrm>
            <a:off x="9088222" y="4041648"/>
            <a:ext cx="2587752" cy="896112"/>
          </a:xfrm>
          <a:prstGeom prst="roundRect">
            <a:avLst>
              <a:gd name="adj" fmla="val 6122"/>
            </a:avLst>
          </a:prstGeom>
          <a:solidFill>
            <a:srgbClr val="1A2337"/>
          </a:solidFill>
          <a:ln w="9525">
            <a:solidFill>
              <a:srgbClr val="27334B"/>
            </a:solidFill>
            <a:prstDash val="solid"/>
          </a:ln>
        </p:spPr>
      </p:sp>
      <p:sp>
        <p:nvSpPr>
          <p:cNvPr id="29" name="Text 27"/>
          <p:cNvSpPr txBox="1"/>
          <p:nvPr/>
        </p:nvSpPr>
        <p:spPr>
          <a:xfrm>
            <a:off x="9325966" y="4160520"/>
            <a:ext cx="2130552" cy="384048"/>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$18M</a:t>
            </a:r>
            <a:endParaRPr lang="en-US" sz="2400" dirty="0"/>
          </a:p>
        </p:txBody>
      </p:sp>
      <p:sp>
        <p:nvSpPr>
          <p:cNvPr id="30" name="Text 28"/>
          <p:cNvSpPr txBox="1"/>
          <p:nvPr/>
        </p:nvSpPr>
        <p:spPr>
          <a:xfrm>
            <a:off x="9325966" y="4553712"/>
            <a:ext cx="2130552" cy="29260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shared trial-data layer — voluntary</a:t>
            </a:r>
            <a:endParaRPr lang="en-US" sz="950" dirty="0"/>
          </a:p>
        </p:txBody>
      </p:sp>
      <p:sp>
        <p:nvSpPr>
          <p:cNvPr id="31" name="Text 29"/>
          <p:cNvSpPr txBox="1"/>
          <p:nvPr/>
        </p:nvSpPr>
        <p:spPr>
          <a:xfrm>
            <a:off x="548640" y="5175504"/>
            <a:ext cx="11091672" cy="777240"/>
          </a:xfrm>
          <a:prstGeom prst="rect">
            <a:avLst/>
          </a:prstGeom>
          <a:noFill/>
          <a:ln/>
        </p:spPr>
        <p:txBody>
          <a:bodyPr wrap="square" lIns="0" tIns="0" rIns="0" bIns="0" rtlCol="0" anchor="ctr"/>
          <a:lstStyle/>
          <a:p>
            <a:pPr indent="0" marL="0">
              <a:lnSpc>
                <a:spcPts val="2100"/>
              </a:lnSpc>
              <a:buNone/>
            </a:pPr>
            <a:r>
              <a:rPr lang="en-US" sz="1400" b="1" i="1" dirty="0">
                <a:solidFill>
                  <a:srgbClr val="FFFFFF"/>
                </a:solidFill>
                <a:latin typeface="Cambria" pitchFamily="34" charset="0"/>
                <a:ea typeface="Cambria" pitchFamily="34" charset="-122"/>
                <a:cs typeface="Cambria" pitchFamily="34" charset="-120"/>
              </a:rPr>
              <a:t>The CIO can argue for the number. Only a P&amp;L owner can commit one. </a:t>
            </a:r>
            <a:pPr indent="0" marL="0">
              <a:lnSpc>
                <a:spcPts val="2100"/>
              </a:lnSpc>
              <a:buNone/>
            </a:pPr>
            <a:r>
              <a:rPr lang="en-US" sz="1400" i="1" dirty="0">
                <a:solidFill>
                  <a:srgbClr val="9AA7BD"/>
                </a:solidFill>
                <a:latin typeface="Cambria" pitchFamily="34" charset="0"/>
                <a:ea typeface="Cambria" pitchFamily="34" charset="-122"/>
                <a:cs typeface="Cambria" pitchFamily="34" charset="-120"/>
              </a:rPr>
              <a:t>And six of the nine highest-value workflows run through one group but begin or end in another — the money is sitting on the boundaries.</a:t>
            </a:r>
            <a:endParaRPr lang="en-US" sz="1400" dirty="0"/>
          </a:p>
        </p:txBody>
      </p:sp>
      <p:sp>
        <p:nvSpPr>
          <p:cNvPr id="32" name="Text 30"/>
          <p:cNvSpPr txBox="1"/>
          <p:nvPr/>
        </p:nvSpPr>
        <p:spPr>
          <a:xfrm>
            <a:off x="548640" y="6217920"/>
            <a:ext cx="11091672" cy="228600"/>
          </a:xfrm>
          <a:prstGeom prst="rect">
            <a:avLst/>
          </a:prstGeom>
          <a:noFill/>
          <a:ln/>
        </p:spPr>
        <p:txBody>
          <a:bodyPr wrap="square" lIns="0" tIns="0" rIns="0" bIns="0" rtlCol="0" anchor="ctr"/>
          <a:lstStyle/>
          <a:p>
            <a:pPr indent="0" marL="0">
              <a:buNone/>
            </a:pPr>
            <a:r>
              <a:rPr lang="en-US" sz="900" dirty="0">
                <a:solidFill>
                  <a:srgbClr val="6E7C94"/>
                </a:solidFill>
                <a:latin typeface="Calibri" pitchFamily="34" charset="0"/>
                <a:ea typeface="Calibri" pitchFamily="34" charset="-122"/>
                <a:cs typeface="Calibri" pitchFamily="34" charset="-120"/>
              </a:rPr>
              <a:t>A fictional teaching simulation. Aster Life Sciences and all people, numbers and events in it are invented.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26"/>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000" b="1" spc="220" kern="0" dirty="0">
                <a:solidFill>
                  <a:srgbClr val="6E7C94"/>
                </a:solidFill>
                <a:latin typeface="Arial" pitchFamily="34" charset="0"/>
                <a:ea typeface="Arial" pitchFamily="34" charset="-122"/>
                <a:cs typeface="Arial" pitchFamily="34" charset="-120"/>
              </a:rPr>
              <a:t>THE EXERCISE</a:t>
            </a:r>
            <a:endParaRPr lang="en-US" sz="1000" dirty="0"/>
          </a:p>
        </p:txBody>
      </p:sp>
      <p:sp>
        <p:nvSpPr>
          <p:cNvPr id="3" name="Text 1"/>
          <p:cNvSpPr txBox="1"/>
          <p:nvPr/>
        </p:nvSpPr>
        <p:spPr>
          <a:xfrm>
            <a:off x="548640" y="713232"/>
            <a:ext cx="10607040" cy="566928"/>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Three divisions, three deals</a:t>
            </a:r>
            <a:endParaRPr lang="en-US" sz="3800" dirty="0"/>
          </a:p>
        </p:txBody>
      </p:sp>
      <p:sp>
        <p:nvSpPr>
          <p:cNvPr id="4" name="Text 2"/>
          <p:cNvSpPr txBox="1"/>
          <p:nvPr/>
        </p:nvSpPr>
        <p:spPr>
          <a:xfrm>
            <a:off x="548640" y="1298448"/>
            <a:ext cx="10607040" cy="310896"/>
          </a:xfrm>
          <a:prstGeom prst="rect">
            <a:avLst/>
          </a:prstGeom>
          <a:noFill/>
          <a:ln/>
        </p:spPr>
        <p:txBody>
          <a:bodyPr wrap="square" lIns="0" tIns="0" rIns="0" bIns="0" rtlCol="0" anchor="ctr"/>
          <a:lstStyle/>
          <a:p>
            <a:pPr indent="0" marL="0">
              <a:buNone/>
            </a:pPr>
            <a:r>
              <a:rPr lang="en-US" sz="1300" dirty="0">
                <a:solidFill>
                  <a:srgbClr val="9AA7BD"/>
                </a:solidFill>
                <a:latin typeface="Calibri" pitchFamily="34" charset="0"/>
                <a:ea typeface="Calibri" pitchFamily="34" charset="-122"/>
                <a:cs typeface="Calibri" pitchFamily="34" charset="-120"/>
              </a:rPr>
              <a:t>Nobody argues for their division. Each one says why it is defending its plan, and the room works out what buys it in.</a:t>
            </a:r>
            <a:endParaRPr lang="en-US" sz="1300" dirty="0"/>
          </a:p>
        </p:txBody>
      </p:sp>
      <p:sp>
        <p:nvSpPr>
          <p:cNvPr id="5" name="Shape 3"/>
          <p:cNvSpPr/>
          <p:nvPr/>
        </p:nvSpPr>
        <p:spPr>
          <a:xfrm>
            <a:off x="548640" y="1965960"/>
            <a:ext cx="5577840" cy="914400"/>
          </a:xfrm>
          <a:prstGeom prst="roundRect">
            <a:avLst>
              <a:gd name="adj" fmla="val 6000"/>
            </a:avLst>
          </a:prstGeom>
          <a:solidFill>
            <a:srgbClr val="1A2337"/>
          </a:solidFill>
          <a:ln w="9525">
            <a:solidFill>
              <a:srgbClr val="27334B"/>
            </a:solidFill>
            <a:prstDash val="solid"/>
          </a:ln>
        </p:spPr>
      </p:sp>
      <p:sp>
        <p:nvSpPr>
          <p:cNvPr id="6" name="Shape 4"/>
          <p:cNvSpPr/>
          <p:nvPr/>
        </p:nvSpPr>
        <p:spPr>
          <a:xfrm>
            <a:off x="786384" y="2249424"/>
            <a:ext cx="347472" cy="347472"/>
          </a:xfrm>
          <a:prstGeom prst="ellipse">
            <a:avLst/>
          </a:prstGeom>
          <a:solidFill>
            <a:srgbClr val="E8A33D"/>
          </a:solidFill>
          <a:ln w="12700">
            <a:solidFill>
              <a:srgbClr val="333333"/>
            </a:solidFill>
            <a:prstDash val="solid"/>
          </a:ln>
        </p:spPr>
      </p:sp>
      <p:sp>
        <p:nvSpPr>
          <p:cNvPr id="7" name="Text 5"/>
          <p:cNvSpPr txBox="1"/>
          <p:nvPr/>
        </p:nvSpPr>
        <p:spPr>
          <a:xfrm>
            <a:off x="786384" y="2249424"/>
            <a:ext cx="347472" cy="347472"/>
          </a:xfrm>
          <a:prstGeom prst="rect">
            <a:avLst/>
          </a:prstGeom>
          <a:noFill/>
          <a:ln/>
        </p:spPr>
        <p:txBody>
          <a:bodyPr wrap="square" lIns="0" tIns="0" rIns="0" bIns="0" rtlCol="0" anchor="ctr"/>
          <a:lstStyle/>
          <a:p>
            <a:pPr algn="ctr" indent="0" marL="0">
              <a:buNone/>
            </a:pPr>
            <a:r>
              <a:rPr lang="en-US" sz="1400" b="1" dirty="0">
                <a:solidFill>
                  <a:srgbClr val="0E1526"/>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280160" y="2121408"/>
            <a:ext cx="461772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Read the objection</a:t>
            </a:r>
            <a:endParaRPr lang="en-US" sz="1350" dirty="0"/>
          </a:p>
        </p:txBody>
      </p:sp>
      <p:sp>
        <p:nvSpPr>
          <p:cNvPr id="9" name="Text 7"/>
          <p:cNvSpPr txBox="1"/>
          <p:nvPr/>
        </p:nvSpPr>
        <p:spPr>
          <a:xfrm>
            <a:off x="1280160" y="2386584"/>
            <a:ext cx="4617720" cy="420624"/>
          </a:xfrm>
          <a:prstGeom prst="rect">
            <a:avLst/>
          </a:prstGeom>
          <a:noFill/>
          <a:ln/>
        </p:spPr>
        <p:txBody>
          <a:bodyPr wrap="square" lIns="0" tIns="0" rIns="0" bIns="0" rtlCol="0" anchor="t"/>
          <a:lstStyle/>
          <a:p>
            <a:pPr indent="0" marL="0">
              <a:lnSpc>
                <a:spcPts val="1300"/>
              </a:lnSpc>
              <a:buNone/>
            </a:pPr>
            <a:r>
              <a:rPr lang="en-US" sz="1000" dirty="0">
                <a:solidFill>
                  <a:srgbClr val="9AA7BD"/>
                </a:solidFill>
                <a:latin typeface="Calibri" pitchFamily="34" charset="0"/>
                <a:ea typeface="Calibri" pitchFamily="34" charset="-122"/>
                <a:cs typeface="Calibri" pitchFamily="34" charset="-120"/>
              </a:rPr>
              <a:t>Each division says, in its own words, why it is defending its own plan. What is actually blocking it is never named.</a:t>
            </a:r>
            <a:endParaRPr lang="en-US" sz="1000" dirty="0"/>
          </a:p>
        </p:txBody>
      </p:sp>
      <p:sp>
        <p:nvSpPr>
          <p:cNvPr id="10" name="Shape 8"/>
          <p:cNvSpPr/>
          <p:nvPr/>
        </p:nvSpPr>
        <p:spPr>
          <a:xfrm>
            <a:off x="548640" y="2971800"/>
            <a:ext cx="5577840" cy="914400"/>
          </a:xfrm>
          <a:prstGeom prst="roundRect">
            <a:avLst>
              <a:gd name="adj" fmla="val 6000"/>
            </a:avLst>
          </a:prstGeom>
          <a:solidFill>
            <a:srgbClr val="1A2337"/>
          </a:solidFill>
          <a:ln w="9525">
            <a:solidFill>
              <a:srgbClr val="27334B"/>
            </a:solidFill>
            <a:prstDash val="solid"/>
          </a:ln>
        </p:spPr>
      </p:sp>
      <p:sp>
        <p:nvSpPr>
          <p:cNvPr id="11" name="Shape 9"/>
          <p:cNvSpPr/>
          <p:nvPr/>
        </p:nvSpPr>
        <p:spPr>
          <a:xfrm>
            <a:off x="786384" y="3255264"/>
            <a:ext cx="347472" cy="347472"/>
          </a:xfrm>
          <a:prstGeom prst="ellipse">
            <a:avLst/>
          </a:prstGeom>
          <a:solidFill>
            <a:srgbClr val="4FC3D9"/>
          </a:solidFill>
          <a:ln w="12700">
            <a:solidFill>
              <a:srgbClr val="333333"/>
            </a:solidFill>
            <a:prstDash val="solid"/>
          </a:ln>
        </p:spPr>
      </p:sp>
      <p:sp>
        <p:nvSpPr>
          <p:cNvPr id="12" name="Text 10"/>
          <p:cNvSpPr txBox="1"/>
          <p:nvPr/>
        </p:nvSpPr>
        <p:spPr>
          <a:xfrm>
            <a:off x="786384" y="3255264"/>
            <a:ext cx="347472" cy="347472"/>
          </a:xfrm>
          <a:prstGeom prst="rect">
            <a:avLst/>
          </a:prstGeom>
          <a:noFill/>
          <a:ln/>
        </p:spPr>
        <p:txBody>
          <a:bodyPr wrap="square" lIns="0" tIns="0" rIns="0" bIns="0" rtlCol="0" anchor="ctr"/>
          <a:lstStyle/>
          <a:p>
            <a:pPr algn="ctr" indent="0" marL="0">
              <a:buNone/>
            </a:pPr>
            <a:r>
              <a:rPr lang="en-US" sz="1400" b="1" dirty="0">
                <a:solidFill>
                  <a:srgbClr val="0E1526"/>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280160" y="3127248"/>
            <a:ext cx="461772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Diagnose the block</a:t>
            </a:r>
            <a:endParaRPr lang="en-US" sz="1350" dirty="0"/>
          </a:p>
        </p:txBody>
      </p:sp>
      <p:sp>
        <p:nvSpPr>
          <p:cNvPr id="14" name="Text 12"/>
          <p:cNvSpPr txBox="1"/>
          <p:nvPr/>
        </p:nvSpPr>
        <p:spPr>
          <a:xfrm>
            <a:off x="1280160" y="3392424"/>
            <a:ext cx="4617720" cy="420624"/>
          </a:xfrm>
          <a:prstGeom prst="rect">
            <a:avLst/>
          </a:prstGeom>
          <a:noFill/>
          <a:ln/>
        </p:spPr>
        <p:txBody>
          <a:bodyPr wrap="square" lIns="0" tIns="0" rIns="0" bIns="0" rtlCol="0" anchor="t"/>
          <a:lstStyle/>
          <a:p>
            <a:pPr indent="0" marL="0">
              <a:lnSpc>
                <a:spcPts val="1300"/>
              </a:lnSpc>
              <a:buNone/>
            </a:pPr>
            <a:r>
              <a:rPr lang="en-US" sz="1000" dirty="0">
                <a:solidFill>
                  <a:srgbClr val="9AA7BD"/>
                </a:solidFill>
                <a:latin typeface="Calibri" pitchFamily="34" charset="0"/>
                <a:ea typeface="Calibri" pitchFamily="34" charset="-122"/>
                <a:cs typeface="Calibri" pitchFamily="34" charset="-120"/>
              </a:rPr>
              <a:t>Absorption, advantage or assurance — and exactly one of the three moves answers each. The wrong move costs full price and buys nothing.</a:t>
            </a:r>
            <a:endParaRPr lang="en-US" sz="1000" dirty="0"/>
          </a:p>
        </p:txBody>
      </p:sp>
      <p:sp>
        <p:nvSpPr>
          <p:cNvPr id="15" name="Shape 13"/>
          <p:cNvSpPr/>
          <p:nvPr/>
        </p:nvSpPr>
        <p:spPr>
          <a:xfrm>
            <a:off x="548640" y="3977640"/>
            <a:ext cx="5577840" cy="914400"/>
          </a:xfrm>
          <a:prstGeom prst="roundRect">
            <a:avLst>
              <a:gd name="adj" fmla="val 6000"/>
            </a:avLst>
          </a:prstGeom>
          <a:solidFill>
            <a:srgbClr val="1A2337"/>
          </a:solidFill>
          <a:ln w="9525">
            <a:solidFill>
              <a:srgbClr val="27334B"/>
            </a:solidFill>
            <a:prstDash val="solid"/>
          </a:ln>
        </p:spPr>
      </p:sp>
      <p:sp>
        <p:nvSpPr>
          <p:cNvPr id="16" name="Shape 14"/>
          <p:cNvSpPr/>
          <p:nvPr/>
        </p:nvSpPr>
        <p:spPr>
          <a:xfrm>
            <a:off x="786384" y="4261104"/>
            <a:ext cx="347472" cy="347472"/>
          </a:xfrm>
          <a:prstGeom prst="ellipse">
            <a:avLst/>
          </a:prstGeom>
          <a:solidFill>
            <a:srgbClr val="A78BFA"/>
          </a:solidFill>
          <a:ln w="12700">
            <a:solidFill>
              <a:srgbClr val="333333"/>
            </a:solidFill>
            <a:prstDash val="solid"/>
          </a:ln>
        </p:spPr>
      </p:sp>
      <p:sp>
        <p:nvSpPr>
          <p:cNvPr id="17" name="Text 15"/>
          <p:cNvSpPr txBox="1"/>
          <p:nvPr/>
        </p:nvSpPr>
        <p:spPr>
          <a:xfrm>
            <a:off x="786384" y="4261104"/>
            <a:ext cx="347472" cy="347472"/>
          </a:xfrm>
          <a:prstGeom prst="rect">
            <a:avLst/>
          </a:prstGeom>
          <a:noFill/>
          <a:ln/>
        </p:spPr>
        <p:txBody>
          <a:bodyPr wrap="square" lIns="0" tIns="0" rIns="0" bIns="0" rtlCol="0" anchor="ctr"/>
          <a:lstStyle/>
          <a:p>
            <a:pPr algn="ctr" indent="0" marL="0">
              <a:buNone/>
            </a:pPr>
            <a:r>
              <a:rPr lang="en-US" sz="1400" b="1" dirty="0">
                <a:solidFill>
                  <a:srgbClr val="0E1526"/>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280160" y="4133088"/>
            <a:ext cx="461772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Watch the number fall</a:t>
            </a:r>
            <a:endParaRPr lang="en-US" sz="1350" dirty="0"/>
          </a:p>
        </p:txBody>
      </p:sp>
      <p:sp>
        <p:nvSpPr>
          <p:cNvPr id="19" name="Text 17"/>
          <p:cNvSpPr txBox="1"/>
          <p:nvPr/>
        </p:nvSpPr>
        <p:spPr>
          <a:xfrm>
            <a:off x="1280160" y="4398264"/>
            <a:ext cx="4617720" cy="420624"/>
          </a:xfrm>
          <a:prstGeom prst="rect">
            <a:avLst/>
          </a:prstGeom>
          <a:noFill/>
          <a:ln/>
        </p:spPr>
        <p:txBody>
          <a:bodyPr wrap="square" lIns="0" tIns="0" rIns="0" bIns="0" rtlCol="0" anchor="t"/>
          <a:lstStyle/>
          <a:p>
            <a:pPr indent="0" marL="0">
              <a:lnSpc>
                <a:spcPts val="1300"/>
              </a:lnSpc>
              <a:buNone/>
            </a:pPr>
            <a:r>
              <a:rPr lang="en-US" sz="1000" dirty="0">
                <a:solidFill>
                  <a:srgbClr val="9AA7BD"/>
                </a:solidFill>
                <a:latin typeface="Calibri" pitchFamily="34" charset="0"/>
                <a:ea typeface="Calibri" pitchFamily="34" charset="-122"/>
                <a:cs typeface="Calibri" pitchFamily="34" charset="-120"/>
              </a:rPr>
              <a:t>Every division that commits alone makes the enterprise worse. Only the third pledge clears the line and builds the layer.</a:t>
            </a:r>
            <a:endParaRPr lang="en-US" sz="1000" dirty="0"/>
          </a:p>
        </p:txBody>
      </p:sp>
      <p:sp>
        <p:nvSpPr>
          <p:cNvPr id="20" name="Text 18"/>
          <p:cNvSpPr txBox="1"/>
          <p:nvPr/>
        </p:nvSpPr>
        <p:spPr>
          <a:xfrm>
            <a:off x="6492240" y="1719072"/>
            <a:ext cx="5148072" cy="219456"/>
          </a:xfrm>
          <a:prstGeom prst="rect">
            <a:avLst/>
          </a:prstGeom>
          <a:noFill/>
          <a:ln/>
        </p:spPr>
        <p:txBody>
          <a:bodyPr wrap="square" lIns="0" tIns="0" rIns="0" bIns="0" rtlCol="0" anchor="ctr"/>
          <a:lstStyle/>
          <a:p>
            <a:pPr indent="0" marL="0">
              <a:buNone/>
            </a:pPr>
            <a:r>
              <a:rPr lang="en-US" sz="950" b="1" spc="200" kern="0" dirty="0">
                <a:solidFill>
                  <a:srgbClr val="6E7C94"/>
                </a:solidFill>
                <a:latin typeface="Arial" pitchFamily="34" charset="0"/>
                <a:ea typeface="Arial" pitchFamily="34" charset="-122"/>
                <a:cs typeface="Arial" pitchFamily="34" charset="-120"/>
              </a:rPr>
              <a:t>WHAT THE THIRD PLEDGE MOVES</a:t>
            </a:r>
            <a:endParaRPr lang="en-US" sz="950" dirty="0"/>
          </a:p>
        </p:txBody>
      </p:sp>
      <p:sp>
        <p:nvSpPr>
          <p:cNvPr id="21" name="Shape 19"/>
          <p:cNvSpPr/>
          <p:nvPr/>
        </p:nvSpPr>
        <p:spPr>
          <a:xfrm>
            <a:off x="6492240" y="1965960"/>
            <a:ext cx="5148072" cy="1353312"/>
          </a:xfrm>
          <a:prstGeom prst="roundRect">
            <a:avLst>
              <a:gd name="adj" fmla="val 4054"/>
            </a:avLst>
          </a:prstGeom>
          <a:solidFill>
            <a:srgbClr val="1A2337"/>
          </a:solidFill>
          <a:ln w="9525">
            <a:solidFill>
              <a:srgbClr val="27334B"/>
            </a:solidFill>
            <a:prstDash val="solid"/>
          </a:ln>
        </p:spPr>
      </p:sp>
      <p:sp>
        <p:nvSpPr>
          <p:cNvPr id="22" name="Shape 20"/>
          <p:cNvSpPr/>
          <p:nvPr/>
        </p:nvSpPr>
        <p:spPr>
          <a:xfrm>
            <a:off x="6748272" y="2203704"/>
            <a:ext cx="132588" cy="132588"/>
          </a:xfrm>
          <a:prstGeom prst="ellipse">
            <a:avLst/>
          </a:prstGeom>
          <a:solidFill>
            <a:srgbClr val="F0685F"/>
          </a:solidFill>
          <a:ln w="12700">
            <a:solidFill>
              <a:srgbClr val="333333"/>
            </a:solidFill>
            <a:prstDash val="solid"/>
          </a:ln>
        </p:spPr>
      </p:sp>
      <p:sp>
        <p:nvSpPr>
          <p:cNvPr id="23" name="Text 21"/>
          <p:cNvSpPr txBox="1"/>
          <p:nvPr/>
        </p:nvSpPr>
        <p:spPr>
          <a:xfrm>
            <a:off x="6976872" y="2130552"/>
            <a:ext cx="2377440" cy="274320"/>
          </a:xfrm>
          <a:prstGeom prst="rect">
            <a:avLst/>
          </a:prstGeom>
          <a:noFill/>
          <a:ln/>
        </p:spPr>
        <p:txBody>
          <a:bodyPr wrap="square" lIns="0" tIns="0" rIns="0" bIns="0" rtlCol="0" anchor="ctr"/>
          <a:lstStyle/>
          <a:p>
            <a:pPr indent="0" marL="0">
              <a:buNone/>
            </a:pPr>
            <a:r>
              <a:rPr lang="en-US" sz="1300" b="1" spc="150" kern="0" dirty="0">
                <a:solidFill>
                  <a:srgbClr val="F0685F"/>
                </a:solidFill>
                <a:latin typeface="Arial" pitchFamily="34" charset="0"/>
                <a:ea typeface="Arial" pitchFamily="34" charset="-122"/>
                <a:cs typeface="Arial" pitchFamily="34" charset="-120"/>
              </a:rPr>
              <a:t>DEFEND</a:t>
            </a:r>
            <a:endParaRPr lang="en-US" sz="1300" dirty="0"/>
          </a:p>
        </p:txBody>
      </p:sp>
      <p:sp>
        <p:nvSpPr>
          <p:cNvPr id="24" name="Text 22"/>
          <p:cNvSpPr txBox="1"/>
          <p:nvPr/>
        </p:nvSpPr>
        <p:spPr>
          <a:xfrm>
            <a:off x="10222992" y="2075688"/>
            <a:ext cx="1161288" cy="384048"/>
          </a:xfrm>
          <a:prstGeom prst="rect">
            <a:avLst/>
          </a:prstGeom>
          <a:noFill/>
          <a:ln/>
        </p:spPr>
        <p:txBody>
          <a:bodyPr wrap="square" lIns="0" tIns="0" rIns="0" bIns="0" rtlCol="0" anchor="ctr"/>
          <a:lstStyle/>
          <a:p>
            <a:pPr algn="r" indent="0" marL="0">
              <a:buNone/>
            </a:pPr>
            <a:r>
              <a:rPr lang="en-US" sz="2200" b="1" dirty="0">
                <a:solidFill>
                  <a:srgbClr val="F0685F"/>
                </a:solidFill>
                <a:latin typeface="Arial" pitchFamily="34" charset="0"/>
                <a:ea typeface="Arial" pitchFamily="34" charset="-122"/>
                <a:cs typeface="Arial" pitchFamily="34" charset="-120"/>
              </a:rPr>
              <a:t>55%</a:t>
            </a:r>
            <a:endParaRPr lang="en-US" sz="2200" dirty="0"/>
          </a:p>
        </p:txBody>
      </p:sp>
      <p:sp>
        <p:nvSpPr>
          <p:cNvPr id="25" name="Text 23"/>
          <p:cNvSpPr txBox="1"/>
          <p:nvPr/>
        </p:nvSpPr>
        <p:spPr>
          <a:xfrm>
            <a:off x="6748272" y="2496312"/>
            <a:ext cx="4636008" cy="420624"/>
          </a:xfrm>
          <a:prstGeom prst="rect">
            <a:avLst/>
          </a:prstGeom>
          <a:noFill/>
          <a:ln/>
        </p:spPr>
        <p:txBody>
          <a:bodyPr wrap="square" lIns="0" tIns="0" rIns="0" bIns="0" rtlCol="0" anchor="t"/>
          <a:lstStyle/>
          <a:p>
            <a:pPr indent="0" marL="0">
              <a:lnSpc>
                <a:spcPts val="1400"/>
              </a:lnSpc>
              <a:buNone/>
            </a:pPr>
            <a:r>
              <a:rPr lang="en-US" sz="1050" dirty="0">
                <a:solidFill>
                  <a:srgbClr val="9AA7BD"/>
                </a:solidFill>
                <a:latin typeface="Calibri" pitchFamily="34" charset="0"/>
                <a:ea typeface="Calibri" pitchFamily="34" charset="-122"/>
                <a:cs typeface="Calibri" pitchFamily="34" charset="-120"/>
              </a:rPr>
              <a:t>Every group protects its own plan. The shared layer stays under-funded. Cross-boundary workflows realise 55% of their value.</a:t>
            </a:r>
            <a:endParaRPr lang="en-US" sz="1050" dirty="0"/>
          </a:p>
        </p:txBody>
      </p:sp>
      <p:sp>
        <p:nvSpPr>
          <p:cNvPr id="26" name="Text 24"/>
          <p:cNvSpPr txBox="1"/>
          <p:nvPr/>
        </p:nvSpPr>
        <p:spPr>
          <a:xfrm>
            <a:off x="6748272" y="2935224"/>
            <a:ext cx="4636008"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Every group's private maths still says: let someone else pay for it.</a:t>
            </a:r>
            <a:endParaRPr lang="en-US" sz="1000" dirty="0"/>
          </a:p>
        </p:txBody>
      </p:sp>
      <p:sp>
        <p:nvSpPr>
          <p:cNvPr id="27" name="Shape 25"/>
          <p:cNvSpPr/>
          <p:nvPr/>
        </p:nvSpPr>
        <p:spPr>
          <a:xfrm>
            <a:off x="6492240" y="3429000"/>
            <a:ext cx="5148072" cy="1353312"/>
          </a:xfrm>
          <a:prstGeom prst="roundRect">
            <a:avLst>
              <a:gd name="adj" fmla="val 4054"/>
            </a:avLst>
          </a:prstGeom>
          <a:solidFill>
            <a:srgbClr val="1A2337"/>
          </a:solidFill>
          <a:ln w="9525">
            <a:solidFill>
              <a:srgbClr val="27334B"/>
            </a:solidFill>
            <a:prstDash val="solid"/>
          </a:ln>
        </p:spPr>
      </p:sp>
      <p:sp>
        <p:nvSpPr>
          <p:cNvPr id="28" name="Shape 26"/>
          <p:cNvSpPr/>
          <p:nvPr/>
        </p:nvSpPr>
        <p:spPr>
          <a:xfrm>
            <a:off x="6748272" y="3666744"/>
            <a:ext cx="132588" cy="132588"/>
          </a:xfrm>
          <a:prstGeom prst="ellipse">
            <a:avLst/>
          </a:prstGeom>
          <a:solidFill>
            <a:srgbClr val="3FD9A0"/>
          </a:solidFill>
          <a:ln w="12700">
            <a:solidFill>
              <a:srgbClr val="333333"/>
            </a:solidFill>
            <a:prstDash val="solid"/>
          </a:ln>
        </p:spPr>
      </p:sp>
      <p:sp>
        <p:nvSpPr>
          <p:cNvPr id="29" name="Text 27"/>
          <p:cNvSpPr txBox="1"/>
          <p:nvPr/>
        </p:nvSpPr>
        <p:spPr>
          <a:xfrm>
            <a:off x="6976872" y="3593592"/>
            <a:ext cx="2377440" cy="274320"/>
          </a:xfrm>
          <a:prstGeom prst="rect">
            <a:avLst/>
          </a:prstGeom>
          <a:noFill/>
          <a:ln/>
        </p:spPr>
        <p:txBody>
          <a:bodyPr wrap="square" lIns="0" tIns="0" rIns="0" bIns="0" rtlCol="0" anchor="ctr"/>
          <a:lstStyle/>
          <a:p>
            <a:pPr indent="0" marL="0">
              <a:buNone/>
            </a:pPr>
            <a:r>
              <a:rPr lang="en-US" sz="1300" b="1" spc="150" kern="0" dirty="0">
                <a:solidFill>
                  <a:srgbClr val="3FD9A0"/>
                </a:solidFill>
                <a:latin typeface="Arial" pitchFamily="34" charset="0"/>
                <a:ea typeface="Arial" pitchFamily="34" charset="-122"/>
                <a:cs typeface="Arial" pitchFamily="34" charset="-120"/>
              </a:rPr>
              <a:t>COMMIT</a:t>
            </a:r>
            <a:endParaRPr lang="en-US" sz="1300" dirty="0"/>
          </a:p>
        </p:txBody>
      </p:sp>
      <p:sp>
        <p:nvSpPr>
          <p:cNvPr id="30" name="Text 28"/>
          <p:cNvSpPr txBox="1"/>
          <p:nvPr/>
        </p:nvSpPr>
        <p:spPr>
          <a:xfrm>
            <a:off x="10222992" y="3538728"/>
            <a:ext cx="1161288" cy="384048"/>
          </a:xfrm>
          <a:prstGeom prst="rect">
            <a:avLst/>
          </a:prstGeom>
          <a:noFill/>
          <a:ln/>
        </p:spPr>
        <p:txBody>
          <a:bodyPr wrap="square" lIns="0" tIns="0" rIns="0" bIns="0" rtlCol="0" anchor="ctr"/>
          <a:lstStyle/>
          <a:p>
            <a:pPr algn="r" indent="0" marL="0">
              <a:buNone/>
            </a:pPr>
            <a:r>
              <a:rPr lang="en-US" sz="2200" b="1" dirty="0">
                <a:solidFill>
                  <a:srgbClr val="3FD9A0"/>
                </a:solidFill>
                <a:latin typeface="Arial" pitchFamily="34" charset="0"/>
                <a:ea typeface="Arial" pitchFamily="34" charset="-122"/>
                <a:cs typeface="Arial" pitchFamily="34" charset="-120"/>
              </a:rPr>
              <a:t>100%</a:t>
            </a:r>
            <a:endParaRPr lang="en-US" sz="2200" dirty="0"/>
          </a:p>
        </p:txBody>
      </p:sp>
      <p:sp>
        <p:nvSpPr>
          <p:cNvPr id="31" name="Text 29"/>
          <p:cNvSpPr txBox="1"/>
          <p:nvPr/>
        </p:nvSpPr>
        <p:spPr>
          <a:xfrm>
            <a:off x="6748272" y="3959352"/>
            <a:ext cx="4636008" cy="420624"/>
          </a:xfrm>
          <a:prstGeom prst="rect">
            <a:avLst/>
          </a:prstGeom>
          <a:noFill/>
          <a:ln/>
        </p:spPr>
        <p:txBody>
          <a:bodyPr wrap="square" lIns="0" tIns="0" rIns="0" bIns="0" rtlCol="0" anchor="t"/>
          <a:lstStyle/>
          <a:p>
            <a:pPr indent="0" marL="0">
              <a:lnSpc>
                <a:spcPts val="1400"/>
              </a:lnSpc>
              <a:buNone/>
            </a:pPr>
            <a:r>
              <a:rPr lang="en-US" sz="1050" dirty="0">
                <a:solidFill>
                  <a:srgbClr val="9AA7BD"/>
                </a:solidFill>
                <a:latin typeface="Calibri" pitchFamily="34" charset="0"/>
                <a:ea typeface="Calibri" pitchFamily="34" charset="-122"/>
                <a:cs typeface="Calibri" pitchFamily="34" charset="-120"/>
              </a:rPr>
              <a:t>Pledges clear the $18M line. The layer gets built. Cross-boundary workflows realise all of it.</a:t>
            </a:r>
            <a:endParaRPr lang="en-US" sz="1050" dirty="0"/>
          </a:p>
        </p:txBody>
      </p:sp>
      <p:sp>
        <p:nvSpPr>
          <p:cNvPr id="32" name="Text 30"/>
          <p:cNvSpPr txBox="1"/>
          <p:nvPr/>
        </p:nvSpPr>
        <p:spPr>
          <a:xfrm>
            <a:off x="6748272" y="4398264"/>
            <a:ext cx="4636008"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$27M of deals buys back $110.50M. No group gets there on its own numbers.</a:t>
            </a:r>
            <a:endParaRPr lang="en-US" sz="1000" dirty="0"/>
          </a:p>
        </p:txBody>
      </p:sp>
      <p:sp>
        <p:nvSpPr>
          <p:cNvPr id="33" name="Shape 31"/>
          <p:cNvSpPr/>
          <p:nvPr/>
        </p:nvSpPr>
        <p:spPr>
          <a:xfrm>
            <a:off x="6492240" y="5029200"/>
            <a:ext cx="5148072" cy="777240"/>
          </a:xfrm>
          <a:prstGeom prst="roundRect">
            <a:avLst>
              <a:gd name="adj" fmla="val 7059"/>
            </a:avLst>
          </a:prstGeom>
          <a:solidFill>
            <a:srgbClr val="1A2337"/>
          </a:solidFill>
          <a:ln w="9525">
            <a:solidFill>
              <a:srgbClr val="27334B"/>
            </a:solidFill>
            <a:prstDash val="solid"/>
          </a:ln>
        </p:spPr>
      </p:sp>
      <p:sp>
        <p:nvSpPr>
          <p:cNvPr id="34" name="Text 32"/>
          <p:cNvSpPr txBox="1"/>
          <p:nvPr/>
        </p:nvSpPr>
        <p:spPr>
          <a:xfrm>
            <a:off x="6748272" y="5029200"/>
            <a:ext cx="4636008" cy="7772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$110.50M</a:t>
            </a:r>
            <a:pPr indent="0" marL="0">
              <a:buNone/>
            </a:pPr>
            <a:r>
              <a:rPr lang="en-US" sz="1150" dirty="0">
                <a:solidFill>
                  <a:srgbClr val="9AA7BD"/>
                </a:solidFill>
                <a:latin typeface="Calibri" pitchFamily="34" charset="0"/>
                <a:ea typeface="Calibri" pitchFamily="34" charset="-122"/>
                <a:cs typeface="Calibri" pitchFamily="34" charset="-120"/>
              </a:rPr>
              <a:t>   more than doing nothing</a:t>
            </a:r>
            <a:endParaRPr lang="en-US" sz="2000" dirty="0"/>
          </a:p>
        </p:txBody>
      </p:sp>
      <p:sp>
        <p:nvSpPr>
          <p:cNvPr id="35" name="Shape 33"/>
          <p:cNvSpPr/>
          <p:nvPr/>
        </p:nvSpPr>
        <p:spPr>
          <a:xfrm>
            <a:off x="548640" y="5029200"/>
            <a:ext cx="5577840" cy="777240"/>
          </a:xfrm>
          <a:prstGeom prst="roundRect">
            <a:avLst>
              <a:gd name="adj" fmla="val 7059"/>
            </a:avLst>
          </a:prstGeom>
          <a:solidFill>
            <a:srgbClr val="1A2337"/>
          </a:solidFill>
          <a:ln w="9525">
            <a:solidFill>
              <a:srgbClr val="27334B"/>
            </a:solidFill>
            <a:prstDash val="solid"/>
          </a:ln>
        </p:spPr>
      </p:sp>
      <p:sp>
        <p:nvSpPr>
          <p:cNvPr id="36" name="Text 34"/>
          <p:cNvSpPr txBox="1"/>
          <p:nvPr/>
        </p:nvSpPr>
        <p:spPr>
          <a:xfrm>
            <a:off x="786384" y="5029200"/>
            <a:ext cx="5102352" cy="777240"/>
          </a:xfrm>
          <a:prstGeom prst="rect">
            <a:avLst/>
          </a:prstGeom>
          <a:noFill/>
          <a:ln/>
        </p:spPr>
        <p:txBody>
          <a:bodyPr wrap="square" lIns="0" tIns="0" rIns="0" bIns="0" rtlCol="0" anchor="ctr"/>
          <a:lstStyle/>
          <a:p>
            <a:pPr indent="0" marL="0">
              <a:buNone/>
            </a:pPr>
            <a:r>
              <a:rPr lang="en-US" sz="1400" i="1" dirty="0">
                <a:solidFill>
                  <a:srgbClr val="FFFFFF"/>
                </a:solidFill>
                <a:latin typeface="Cambria" pitchFamily="34" charset="0"/>
                <a:ea typeface="Cambria" pitchFamily="34" charset="-122"/>
                <a:cs typeface="Cambria" pitchFamily="34" charset="-120"/>
              </a:rPr>
              <a:t>Nobody in the room is irrational. That is the point.</a:t>
            </a:r>
            <a:endParaRPr lang="en-US" sz="1400" dirty="0"/>
          </a:p>
        </p:txBody>
      </p:sp>
      <p:sp>
        <p:nvSpPr>
          <p:cNvPr id="37" name="Text 3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dirty="0">
                <a:solidFill>
                  <a:srgbClr val="6E7C94"/>
                </a:solidFill>
                <a:latin typeface="Calibri" pitchFamily="34" charset="0"/>
                <a:ea typeface="Calibri" pitchFamily="34" charset="-122"/>
                <a:cs typeface="Calibri" pitchFamily="34" charset="-120"/>
              </a:rPr>
              <a:t>A fictional teaching simulation. All numbers are invented.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526"/>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000" b="1" spc="220" kern="0" dirty="0">
                <a:solidFill>
                  <a:srgbClr val="6E7C94"/>
                </a:solidFill>
                <a:latin typeface="Arial" pitchFamily="34" charset="0"/>
                <a:ea typeface="Arial" pitchFamily="34" charset="-122"/>
                <a:cs typeface="Arial" pitchFamily="34" charset="-120"/>
              </a:rPr>
              <a:t>THE FRAMEWORK</a:t>
            </a:r>
            <a:endParaRPr lang="en-US" sz="1000" dirty="0"/>
          </a:p>
        </p:txBody>
      </p:sp>
      <p:sp>
        <p:nvSpPr>
          <p:cNvPr id="3" name="Text 1"/>
          <p:cNvSpPr txBox="1"/>
          <p:nvPr/>
        </p:nvSpPr>
        <p:spPr>
          <a:xfrm>
            <a:off x="548640" y="603504"/>
            <a:ext cx="11091672" cy="512064"/>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case for collaborating is never the problem</a:t>
            </a:r>
            <a:endParaRPr lang="en-US" sz="3000" dirty="0"/>
          </a:p>
        </p:txBody>
      </p:sp>
      <p:sp>
        <p:nvSpPr>
          <p:cNvPr id="4" name="Text 2"/>
          <p:cNvSpPr txBox="1"/>
          <p:nvPr/>
        </p:nvSpPr>
        <p:spPr>
          <a:xfrm>
            <a:off x="548640" y="1133856"/>
            <a:ext cx="11091672" cy="274320"/>
          </a:xfrm>
          <a:prstGeom prst="rect">
            <a:avLst/>
          </a:prstGeom>
          <a:noFill/>
          <a:ln/>
        </p:spPr>
        <p:txBody>
          <a:bodyPr wrap="square" lIns="0" tIns="0" rIns="0" bIns="0" rtlCol="0" anchor="ctr"/>
          <a:lstStyle/>
          <a:p>
            <a:pPr indent="0" marL="0">
              <a:buNone/>
            </a:pPr>
            <a:r>
              <a:rPr lang="en-US" sz="1300" dirty="0">
                <a:solidFill>
                  <a:srgbClr val="9AA7BD"/>
                </a:solidFill>
                <a:latin typeface="Calibri" pitchFamily="34" charset="0"/>
                <a:ea typeface="Calibri" pitchFamily="34" charset="-122"/>
                <a:cs typeface="Calibri" pitchFamily="34" charset="-120"/>
              </a:rPr>
              <a:t>Argue the top half and you get agreement in principle. Answer the bottom half and you get a number.</a:t>
            </a:r>
            <a:endParaRPr lang="en-US" sz="1300" dirty="0"/>
          </a:p>
        </p:txBody>
      </p:sp>
      <p:sp>
        <p:nvSpPr>
          <p:cNvPr id="5" name="Text 3"/>
          <p:cNvSpPr txBox="1"/>
          <p:nvPr/>
        </p:nvSpPr>
        <p:spPr>
          <a:xfrm>
            <a:off x="804672" y="1554480"/>
            <a:ext cx="2103120" cy="201168"/>
          </a:xfrm>
          <a:prstGeom prst="rect">
            <a:avLst/>
          </a:prstGeom>
          <a:noFill/>
          <a:ln/>
        </p:spPr>
        <p:txBody>
          <a:bodyPr wrap="square" lIns="0" tIns="0" rIns="0" bIns="0" rtlCol="0" anchor="ctr"/>
          <a:lstStyle/>
          <a:p>
            <a:pPr indent="0" marL="0">
              <a:buNone/>
            </a:pPr>
            <a:r>
              <a:rPr lang="en-US" sz="900" b="1" spc="200" kern="0" dirty="0">
                <a:solidFill>
                  <a:srgbClr val="6E7C94"/>
                </a:solidFill>
                <a:latin typeface="Arial" pitchFamily="34" charset="0"/>
                <a:ea typeface="Arial" pitchFamily="34" charset="-122"/>
                <a:cs typeface="Arial" pitchFamily="34" charset="-120"/>
              </a:rPr>
              <a:t>FACTOR</a:t>
            </a:r>
            <a:endParaRPr lang="en-US" sz="900" dirty="0"/>
          </a:p>
        </p:txBody>
      </p:sp>
      <p:sp>
        <p:nvSpPr>
          <p:cNvPr id="6" name="Text 4"/>
          <p:cNvSpPr txBox="1"/>
          <p:nvPr/>
        </p:nvSpPr>
        <p:spPr>
          <a:xfrm>
            <a:off x="3063240" y="1554480"/>
            <a:ext cx="8229600" cy="201168"/>
          </a:xfrm>
          <a:prstGeom prst="rect">
            <a:avLst/>
          </a:prstGeom>
          <a:noFill/>
          <a:ln/>
        </p:spPr>
        <p:txBody>
          <a:bodyPr wrap="square" lIns="0" tIns="0" rIns="0" bIns="0" rtlCol="0" anchor="ctr"/>
          <a:lstStyle/>
          <a:p>
            <a:pPr indent="0" marL="0">
              <a:buNone/>
            </a:pPr>
            <a:r>
              <a:rPr lang="en-US" sz="900" b="1" spc="200" kern="0" dirty="0">
                <a:solidFill>
                  <a:srgbClr val="6E7C94"/>
                </a:solidFill>
                <a:latin typeface="Arial" pitchFamily="34" charset="0"/>
                <a:ea typeface="Arial" pitchFamily="34" charset="-122"/>
                <a:cs typeface="Arial" pitchFamily="34" charset="-120"/>
              </a:rPr>
              <a:t>DESCRIPTION</a:t>
            </a:r>
            <a:endParaRPr lang="en-US" sz="900" dirty="0"/>
          </a:p>
        </p:txBody>
      </p:sp>
      <p:sp>
        <p:nvSpPr>
          <p:cNvPr id="7" name="Text 5"/>
          <p:cNvSpPr txBox="1"/>
          <p:nvPr/>
        </p:nvSpPr>
        <p:spPr>
          <a:xfrm>
            <a:off x="548640" y="1883664"/>
            <a:ext cx="11091672" cy="219456"/>
          </a:xfrm>
          <a:prstGeom prst="rect">
            <a:avLst/>
          </a:prstGeom>
          <a:noFill/>
          <a:ln/>
        </p:spPr>
        <p:txBody>
          <a:bodyPr wrap="square" lIns="0" tIns="0" rIns="0" bIns="0" rtlCol="0" anchor="ctr"/>
          <a:lstStyle/>
          <a:p>
            <a:pPr indent="0" marL="0">
              <a:buNone/>
            </a:pPr>
            <a:r>
              <a:rPr lang="en-US" sz="1000" b="1" spc="160" kern="0" dirty="0">
                <a:solidFill>
                  <a:srgbClr val="3FD9A0"/>
                </a:solidFill>
                <a:latin typeface="Arial" pitchFamily="34" charset="0"/>
                <a:ea typeface="Arial" pitchFamily="34" charset="-122"/>
                <a:cs typeface="Arial" pitchFamily="34" charset="-120"/>
              </a:rPr>
              <a:t>FORCES INCENTIVISING COLLABORATION   —   why any division comes to the table</a:t>
            </a:r>
            <a:endParaRPr lang="en-US" sz="1000" dirty="0"/>
          </a:p>
        </p:txBody>
      </p:sp>
      <p:sp>
        <p:nvSpPr>
          <p:cNvPr id="8" name="Shape 6"/>
          <p:cNvSpPr/>
          <p:nvPr/>
        </p:nvSpPr>
        <p:spPr>
          <a:xfrm>
            <a:off x="548640" y="2139696"/>
            <a:ext cx="10981944" cy="603504"/>
          </a:xfrm>
          <a:prstGeom prst="roundRect">
            <a:avLst>
              <a:gd name="adj" fmla="val 9091"/>
            </a:avLst>
          </a:prstGeom>
          <a:solidFill>
            <a:srgbClr val="1A2337"/>
          </a:solidFill>
          <a:ln w="9525">
            <a:solidFill>
              <a:srgbClr val="27334B"/>
            </a:solidFill>
            <a:prstDash val="solid"/>
          </a:ln>
        </p:spPr>
      </p:sp>
      <p:sp>
        <p:nvSpPr>
          <p:cNvPr id="9" name="Shape 7"/>
          <p:cNvSpPr/>
          <p:nvPr/>
        </p:nvSpPr>
        <p:spPr>
          <a:xfrm>
            <a:off x="804672" y="2374697"/>
            <a:ext cx="132588" cy="132588"/>
          </a:xfrm>
          <a:prstGeom prst="ellipse">
            <a:avLst/>
          </a:prstGeom>
          <a:solidFill>
            <a:srgbClr val="3FD9A0"/>
          </a:solidFill>
          <a:ln w="12700">
            <a:solidFill>
              <a:srgbClr val="333333"/>
            </a:solidFill>
            <a:prstDash val="solid"/>
          </a:ln>
        </p:spPr>
      </p:sp>
      <p:sp>
        <p:nvSpPr>
          <p:cNvPr id="10" name="Text 8"/>
          <p:cNvSpPr txBox="1"/>
          <p:nvPr/>
        </p:nvSpPr>
        <p:spPr>
          <a:xfrm>
            <a:off x="1060704" y="2139696"/>
            <a:ext cx="1847088" cy="603504"/>
          </a:xfrm>
          <a:prstGeom prst="rect">
            <a:avLst/>
          </a:prstGeom>
          <a:noFill/>
          <a:ln/>
        </p:spPr>
        <p:txBody>
          <a:bodyPr wrap="square" lIns="0" tIns="0" rIns="0" bIns="0" rtlCol="0" anchor="ctr"/>
          <a:lstStyle/>
          <a:p>
            <a:pPr indent="0" marL="0">
              <a:buNone/>
            </a:pPr>
            <a:r>
              <a:rPr lang="en-US" sz="1100" b="1" spc="120" kern="0" dirty="0">
                <a:solidFill>
                  <a:srgbClr val="3FD9A0"/>
                </a:solidFill>
                <a:latin typeface="Arial" pitchFamily="34" charset="0"/>
                <a:ea typeface="Arial" pitchFamily="34" charset="-122"/>
                <a:cs typeface="Arial" pitchFamily="34" charset="-120"/>
              </a:rPr>
              <a:t>DEPENDENCY</a:t>
            </a:r>
            <a:endParaRPr lang="en-US" sz="1100" dirty="0"/>
          </a:p>
        </p:txBody>
      </p:sp>
      <p:sp>
        <p:nvSpPr>
          <p:cNvPr id="11" name="Text 9"/>
          <p:cNvSpPr txBox="1"/>
          <p:nvPr/>
        </p:nvSpPr>
        <p:spPr>
          <a:xfrm>
            <a:off x="3063240" y="2139696"/>
            <a:ext cx="8229600" cy="603504"/>
          </a:xfrm>
          <a:prstGeom prst="rect">
            <a:avLst/>
          </a:prstGeom>
          <a:noFill/>
          <a:ln/>
        </p:spPr>
        <p:txBody>
          <a:bodyPr wrap="square" lIns="0" tIns="0" rIns="0" bIns="0" rtlCol="0" anchor="ctr"/>
          <a:lstStyle/>
          <a:p>
            <a:pPr indent="0" marL="0">
              <a:lnSpc>
                <a:spcPts val="1300"/>
              </a:lnSpc>
              <a:buNone/>
            </a:pPr>
            <a:r>
              <a:rPr lang="en-US" sz="1000" dirty="0">
                <a:solidFill>
                  <a:srgbClr val="9AA7BD"/>
                </a:solidFill>
                <a:latin typeface="Calibri" pitchFamily="34" charset="0"/>
                <a:ea typeface="Calibri" pitchFamily="34" charset="-122"/>
                <a:cs typeface="Calibri" pitchFamily="34" charset="-120"/>
              </a:rPr>
              <a:t>Value you cannot realise without an asset another division owns. The more of your value sits on a boundary, the more you need the deal — and if you are the one who owns that asset, your upside is their commitment, not your own roadmap.</a:t>
            </a:r>
            <a:endParaRPr lang="en-US" sz="1000" dirty="0"/>
          </a:p>
        </p:txBody>
      </p:sp>
      <p:sp>
        <p:nvSpPr>
          <p:cNvPr id="12" name="Shape 10"/>
          <p:cNvSpPr/>
          <p:nvPr/>
        </p:nvSpPr>
        <p:spPr>
          <a:xfrm>
            <a:off x="548640" y="2788920"/>
            <a:ext cx="10981944" cy="603504"/>
          </a:xfrm>
          <a:prstGeom prst="roundRect">
            <a:avLst>
              <a:gd name="adj" fmla="val 9091"/>
            </a:avLst>
          </a:prstGeom>
          <a:solidFill>
            <a:srgbClr val="1A2337"/>
          </a:solidFill>
          <a:ln w="9525">
            <a:solidFill>
              <a:srgbClr val="27334B"/>
            </a:solidFill>
            <a:prstDash val="solid"/>
          </a:ln>
        </p:spPr>
      </p:sp>
      <p:sp>
        <p:nvSpPr>
          <p:cNvPr id="13" name="Shape 11"/>
          <p:cNvSpPr/>
          <p:nvPr/>
        </p:nvSpPr>
        <p:spPr>
          <a:xfrm>
            <a:off x="804672" y="3023921"/>
            <a:ext cx="132588" cy="132588"/>
          </a:xfrm>
          <a:prstGeom prst="ellipse">
            <a:avLst/>
          </a:prstGeom>
          <a:solidFill>
            <a:srgbClr val="3FD9A0"/>
          </a:solidFill>
          <a:ln w="12700">
            <a:solidFill>
              <a:srgbClr val="333333"/>
            </a:solidFill>
            <a:prstDash val="solid"/>
          </a:ln>
        </p:spPr>
      </p:sp>
      <p:sp>
        <p:nvSpPr>
          <p:cNvPr id="14" name="Text 12"/>
          <p:cNvSpPr txBox="1"/>
          <p:nvPr/>
        </p:nvSpPr>
        <p:spPr>
          <a:xfrm>
            <a:off x="1060704" y="2788920"/>
            <a:ext cx="1847088" cy="603504"/>
          </a:xfrm>
          <a:prstGeom prst="rect">
            <a:avLst/>
          </a:prstGeom>
          <a:noFill/>
          <a:ln/>
        </p:spPr>
        <p:txBody>
          <a:bodyPr wrap="square" lIns="0" tIns="0" rIns="0" bIns="0" rtlCol="0" anchor="ctr"/>
          <a:lstStyle/>
          <a:p>
            <a:pPr indent="0" marL="0">
              <a:buNone/>
            </a:pPr>
            <a:r>
              <a:rPr lang="en-US" sz="1100" b="1" spc="120" kern="0" dirty="0">
                <a:solidFill>
                  <a:srgbClr val="3FD9A0"/>
                </a:solidFill>
                <a:latin typeface="Arial" pitchFamily="34" charset="0"/>
                <a:ea typeface="Arial" pitchFamily="34" charset="-122"/>
                <a:cs typeface="Arial" pitchFamily="34" charset="-120"/>
              </a:rPr>
              <a:t>THRESHOLD</a:t>
            </a:r>
            <a:endParaRPr lang="en-US" sz="1100" dirty="0"/>
          </a:p>
        </p:txBody>
      </p:sp>
      <p:sp>
        <p:nvSpPr>
          <p:cNvPr id="15" name="Text 13"/>
          <p:cNvSpPr txBox="1"/>
          <p:nvPr/>
        </p:nvSpPr>
        <p:spPr>
          <a:xfrm>
            <a:off x="3063240" y="2788920"/>
            <a:ext cx="8229600" cy="603504"/>
          </a:xfrm>
          <a:prstGeom prst="rect">
            <a:avLst/>
          </a:prstGeom>
          <a:noFill/>
          <a:ln/>
        </p:spPr>
        <p:txBody>
          <a:bodyPr wrap="square" lIns="0" tIns="0" rIns="0" bIns="0" rtlCol="0" anchor="ctr"/>
          <a:lstStyle/>
          <a:p>
            <a:pPr indent="0" marL="0">
              <a:lnSpc>
                <a:spcPts val="1300"/>
              </a:lnSpc>
              <a:buNone/>
            </a:pPr>
            <a:r>
              <a:rPr lang="en-US" sz="1000" dirty="0">
                <a:solidFill>
                  <a:srgbClr val="9AA7BD"/>
                </a:solidFill>
                <a:latin typeface="Calibri" pitchFamily="34" charset="0"/>
                <a:ea typeface="Calibri" pitchFamily="34" charset="-122"/>
                <a:cs typeface="Calibri" pitchFamily="34" charset="-120"/>
              </a:rPr>
              <a:t>The shared asset is lumpy. It exists only above a funding line that no single division can justify on its own numbers, so it gets built jointly or it does not get built.</a:t>
            </a:r>
            <a:endParaRPr lang="en-US" sz="1000" dirty="0"/>
          </a:p>
        </p:txBody>
      </p:sp>
      <p:sp>
        <p:nvSpPr>
          <p:cNvPr id="16" name="Shape 14"/>
          <p:cNvSpPr/>
          <p:nvPr/>
        </p:nvSpPr>
        <p:spPr>
          <a:xfrm>
            <a:off x="548640" y="3438144"/>
            <a:ext cx="10981944" cy="603504"/>
          </a:xfrm>
          <a:prstGeom prst="roundRect">
            <a:avLst>
              <a:gd name="adj" fmla="val 9091"/>
            </a:avLst>
          </a:prstGeom>
          <a:solidFill>
            <a:srgbClr val="1A2337"/>
          </a:solidFill>
          <a:ln w="9525">
            <a:solidFill>
              <a:srgbClr val="27334B"/>
            </a:solidFill>
            <a:prstDash val="solid"/>
          </a:ln>
        </p:spPr>
      </p:sp>
      <p:sp>
        <p:nvSpPr>
          <p:cNvPr id="17" name="Shape 15"/>
          <p:cNvSpPr/>
          <p:nvPr/>
        </p:nvSpPr>
        <p:spPr>
          <a:xfrm>
            <a:off x="804672" y="3673145"/>
            <a:ext cx="132588" cy="132588"/>
          </a:xfrm>
          <a:prstGeom prst="ellipse">
            <a:avLst/>
          </a:prstGeom>
          <a:solidFill>
            <a:srgbClr val="3FD9A0"/>
          </a:solidFill>
          <a:ln w="12700">
            <a:solidFill>
              <a:srgbClr val="333333"/>
            </a:solidFill>
            <a:prstDash val="solid"/>
          </a:ln>
        </p:spPr>
      </p:sp>
      <p:sp>
        <p:nvSpPr>
          <p:cNvPr id="18" name="Text 16"/>
          <p:cNvSpPr txBox="1"/>
          <p:nvPr/>
        </p:nvSpPr>
        <p:spPr>
          <a:xfrm>
            <a:off x="1060704" y="3438144"/>
            <a:ext cx="1847088" cy="603504"/>
          </a:xfrm>
          <a:prstGeom prst="rect">
            <a:avLst/>
          </a:prstGeom>
          <a:noFill/>
          <a:ln/>
        </p:spPr>
        <p:txBody>
          <a:bodyPr wrap="square" lIns="0" tIns="0" rIns="0" bIns="0" rtlCol="0" anchor="ctr"/>
          <a:lstStyle/>
          <a:p>
            <a:pPr indent="0" marL="0">
              <a:buNone/>
            </a:pPr>
            <a:r>
              <a:rPr lang="en-US" sz="1100" b="1" spc="120" kern="0" dirty="0">
                <a:solidFill>
                  <a:srgbClr val="3FD9A0"/>
                </a:solidFill>
                <a:latin typeface="Arial" pitchFamily="34" charset="0"/>
                <a:ea typeface="Arial" pitchFamily="34" charset="-122"/>
                <a:cs typeface="Arial" pitchFamily="34" charset="-120"/>
              </a:rPr>
              <a:t>DUPLICATION</a:t>
            </a:r>
            <a:endParaRPr lang="en-US" sz="1100" dirty="0"/>
          </a:p>
        </p:txBody>
      </p:sp>
      <p:sp>
        <p:nvSpPr>
          <p:cNvPr id="19" name="Text 17"/>
          <p:cNvSpPr txBox="1"/>
          <p:nvPr/>
        </p:nvSpPr>
        <p:spPr>
          <a:xfrm>
            <a:off x="3063240" y="3438144"/>
            <a:ext cx="8229600" cy="603504"/>
          </a:xfrm>
          <a:prstGeom prst="rect">
            <a:avLst/>
          </a:prstGeom>
          <a:noFill/>
          <a:ln/>
        </p:spPr>
        <p:txBody>
          <a:bodyPr wrap="square" lIns="0" tIns="0" rIns="0" bIns="0" rtlCol="0" anchor="ctr"/>
          <a:lstStyle/>
          <a:p>
            <a:pPr indent="0" marL="0">
              <a:lnSpc>
                <a:spcPts val="1300"/>
              </a:lnSpc>
              <a:buNone/>
            </a:pPr>
            <a:r>
              <a:rPr lang="en-US" sz="1000" dirty="0">
                <a:solidFill>
                  <a:srgbClr val="9AA7BD"/>
                </a:solidFill>
                <a:latin typeface="Calibri" pitchFamily="34" charset="0"/>
                <a:ea typeface="Calibri" pitchFamily="34" charset="-122"/>
                <a:cs typeface="Calibri" pitchFamily="34" charset="-120"/>
              </a:rPr>
              <a:t>Left alone, divisions quietly build the same capability twice. Nobody can see it from inside their own plan, and the waste only surfaces once both have been funded.</a:t>
            </a:r>
            <a:endParaRPr lang="en-US" sz="1000" dirty="0"/>
          </a:p>
        </p:txBody>
      </p:sp>
      <p:sp>
        <p:nvSpPr>
          <p:cNvPr id="20" name="Text 18"/>
          <p:cNvSpPr txBox="1"/>
          <p:nvPr/>
        </p:nvSpPr>
        <p:spPr>
          <a:xfrm>
            <a:off x="548640" y="4242816"/>
            <a:ext cx="11091672" cy="219456"/>
          </a:xfrm>
          <a:prstGeom prst="rect">
            <a:avLst/>
          </a:prstGeom>
          <a:noFill/>
          <a:ln/>
        </p:spPr>
        <p:txBody>
          <a:bodyPr wrap="square" lIns="0" tIns="0" rIns="0" bIns="0" rtlCol="0" anchor="ctr"/>
          <a:lstStyle/>
          <a:p>
            <a:pPr indent="0" marL="0">
              <a:buNone/>
            </a:pPr>
            <a:r>
              <a:rPr lang="en-US" sz="1000" b="1" spc="160" kern="0" dirty="0">
                <a:solidFill>
                  <a:srgbClr val="F0685F"/>
                </a:solidFill>
                <a:latin typeface="Arial" pitchFamily="34" charset="0"/>
                <a:ea typeface="Arial" pitchFamily="34" charset="-122"/>
                <a:cs typeface="Arial" pitchFamily="34" charset="-120"/>
              </a:rPr>
              <a:t>FORCES INCENTIVISING INDIVIDUALISM   —   why it defends its own plan instead</a:t>
            </a:r>
            <a:endParaRPr lang="en-US" sz="1000" dirty="0"/>
          </a:p>
        </p:txBody>
      </p:sp>
      <p:sp>
        <p:nvSpPr>
          <p:cNvPr id="21" name="Shape 19"/>
          <p:cNvSpPr/>
          <p:nvPr/>
        </p:nvSpPr>
        <p:spPr>
          <a:xfrm>
            <a:off x="548640" y="4498848"/>
            <a:ext cx="10981944" cy="603504"/>
          </a:xfrm>
          <a:prstGeom prst="roundRect">
            <a:avLst>
              <a:gd name="adj" fmla="val 9091"/>
            </a:avLst>
          </a:prstGeom>
          <a:solidFill>
            <a:srgbClr val="1A2337"/>
          </a:solidFill>
          <a:ln w="9525">
            <a:solidFill>
              <a:srgbClr val="27334B"/>
            </a:solidFill>
            <a:prstDash val="solid"/>
          </a:ln>
        </p:spPr>
      </p:sp>
      <p:sp>
        <p:nvSpPr>
          <p:cNvPr id="22" name="Shape 20"/>
          <p:cNvSpPr/>
          <p:nvPr/>
        </p:nvSpPr>
        <p:spPr>
          <a:xfrm>
            <a:off x="804672" y="4733849"/>
            <a:ext cx="132588" cy="132588"/>
          </a:xfrm>
          <a:prstGeom prst="ellipse">
            <a:avLst/>
          </a:prstGeom>
          <a:solidFill>
            <a:srgbClr val="F0685F"/>
          </a:solidFill>
          <a:ln w="12700">
            <a:solidFill>
              <a:srgbClr val="333333"/>
            </a:solidFill>
            <a:prstDash val="solid"/>
          </a:ln>
        </p:spPr>
      </p:sp>
      <p:sp>
        <p:nvSpPr>
          <p:cNvPr id="23" name="Text 21"/>
          <p:cNvSpPr txBox="1"/>
          <p:nvPr/>
        </p:nvSpPr>
        <p:spPr>
          <a:xfrm>
            <a:off x="1060704" y="4498848"/>
            <a:ext cx="1847088" cy="603504"/>
          </a:xfrm>
          <a:prstGeom prst="rect">
            <a:avLst/>
          </a:prstGeom>
          <a:noFill/>
          <a:ln/>
        </p:spPr>
        <p:txBody>
          <a:bodyPr wrap="square" lIns="0" tIns="0" rIns="0" bIns="0" rtlCol="0" anchor="ctr"/>
          <a:lstStyle/>
          <a:p>
            <a:pPr indent="0" marL="0">
              <a:buNone/>
            </a:pPr>
            <a:r>
              <a:rPr lang="en-US" sz="1100" b="1" spc="120" kern="0" dirty="0">
                <a:solidFill>
                  <a:srgbClr val="F0685F"/>
                </a:solidFill>
                <a:latin typeface="Arial" pitchFamily="34" charset="0"/>
                <a:ea typeface="Arial" pitchFamily="34" charset="-122"/>
                <a:cs typeface="Arial" pitchFamily="34" charset="-120"/>
              </a:rPr>
              <a:t>ABSORPTION</a:t>
            </a:r>
            <a:endParaRPr lang="en-US" sz="1100" dirty="0"/>
          </a:p>
        </p:txBody>
      </p:sp>
      <p:sp>
        <p:nvSpPr>
          <p:cNvPr id="24" name="Text 22"/>
          <p:cNvSpPr txBox="1"/>
          <p:nvPr/>
        </p:nvSpPr>
        <p:spPr>
          <a:xfrm>
            <a:off x="3063240" y="4498848"/>
            <a:ext cx="8229600" cy="603504"/>
          </a:xfrm>
          <a:prstGeom prst="rect">
            <a:avLst/>
          </a:prstGeom>
          <a:noFill/>
          <a:ln/>
        </p:spPr>
        <p:txBody>
          <a:bodyPr wrap="square" lIns="0" tIns="0" rIns="0" bIns="0" rtlCol="0" anchor="ctr"/>
          <a:lstStyle/>
          <a:p>
            <a:pPr indent="0" marL="0">
              <a:lnSpc>
                <a:spcPts val="1300"/>
              </a:lnSpc>
              <a:buNone/>
            </a:pPr>
            <a:r>
              <a:rPr lang="en-US" sz="1050" i="1" dirty="0">
                <a:solidFill>
                  <a:srgbClr val="FFFFFF"/>
                </a:solidFill>
                <a:latin typeface="Cambria" pitchFamily="34" charset="0"/>
                <a:ea typeface="Cambria" pitchFamily="34" charset="-122"/>
                <a:cs typeface="Cambria" pitchFamily="34" charset="-120"/>
              </a:rPr>
              <a:t>“We cannot take this much change this fast.”  </a:t>
            </a:r>
            <a:pPr indent="0" marL="0">
              <a:lnSpc>
                <a:spcPts val="1300"/>
              </a:lnSpc>
              <a:buNone/>
            </a:pPr>
            <a:r>
              <a:rPr lang="en-US" sz="1000" dirty="0">
                <a:solidFill>
                  <a:srgbClr val="9AA7BD"/>
                </a:solidFill>
                <a:latin typeface="Calibri" pitchFamily="34" charset="0"/>
                <a:ea typeface="Calibri" pitchFamily="34" charset="-122"/>
                <a:cs typeface="Calibri" pitchFamily="34" charset="-120"/>
              </a:rPr>
              <a:t>A timing problem, not a size problem — so commit the number and negotiate the clock.</a:t>
            </a:r>
            <a:endParaRPr lang="en-US" sz="1050" dirty="0"/>
          </a:p>
        </p:txBody>
      </p:sp>
      <p:sp>
        <p:nvSpPr>
          <p:cNvPr id="25" name="Shape 23"/>
          <p:cNvSpPr/>
          <p:nvPr/>
        </p:nvSpPr>
        <p:spPr>
          <a:xfrm>
            <a:off x="548640" y="5148072"/>
            <a:ext cx="10981944" cy="603504"/>
          </a:xfrm>
          <a:prstGeom prst="roundRect">
            <a:avLst>
              <a:gd name="adj" fmla="val 9091"/>
            </a:avLst>
          </a:prstGeom>
          <a:solidFill>
            <a:srgbClr val="1A2337"/>
          </a:solidFill>
          <a:ln w="9525">
            <a:solidFill>
              <a:srgbClr val="27334B"/>
            </a:solidFill>
            <a:prstDash val="solid"/>
          </a:ln>
        </p:spPr>
      </p:sp>
      <p:sp>
        <p:nvSpPr>
          <p:cNvPr id="26" name="Shape 24"/>
          <p:cNvSpPr/>
          <p:nvPr/>
        </p:nvSpPr>
        <p:spPr>
          <a:xfrm>
            <a:off x="804672" y="5383073"/>
            <a:ext cx="132588" cy="132588"/>
          </a:xfrm>
          <a:prstGeom prst="ellipse">
            <a:avLst/>
          </a:prstGeom>
          <a:solidFill>
            <a:srgbClr val="F0685F"/>
          </a:solidFill>
          <a:ln w="12700">
            <a:solidFill>
              <a:srgbClr val="333333"/>
            </a:solidFill>
            <a:prstDash val="solid"/>
          </a:ln>
        </p:spPr>
      </p:sp>
      <p:sp>
        <p:nvSpPr>
          <p:cNvPr id="27" name="Text 25"/>
          <p:cNvSpPr txBox="1"/>
          <p:nvPr/>
        </p:nvSpPr>
        <p:spPr>
          <a:xfrm>
            <a:off x="1060704" y="5148072"/>
            <a:ext cx="1847088" cy="603504"/>
          </a:xfrm>
          <a:prstGeom prst="rect">
            <a:avLst/>
          </a:prstGeom>
          <a:noFill/>
          <a:ln/>
        </p:spPr>
        <p:txBody>
          <a:bodyPr wrap="square" lIns="0" tIns="0" rIns="0" bIns="0" rtlCol="0" anchor="ctr"/>
          <a:lstStyle/>
          <a:p>
            <a:pPr indent="0" marL="0">
              <a:buNone/>
            </a:pPr>
            <a:r>
              <a:rPr lang="en-US" sz="1100" b="1" spc="120" kern="0" dirty="0">
                <a:solidFill>
                  <a:srgbClr val="F0685F"/>
                </a:solidFill>
                <a:latin typeface="Arial" pitchFamily="34" charset="0"/>
                <a:ea typeface="Arial" pitchFamily="34" charset="-122"/>
                <a:cs typeface="Arial" pitchFamily="34" charset="-120"/>
              </a:rPr>
              <a:t>ADVANTAGE</a:t>
            </a:r>
            <a:endParaRPr lang="en-US" sz="1100" dirty="0"/>
          </a:p>
        </p:txBody>
      </p:sp>
      <p:sp>
        <p:nvSpPr>
          <p:cNvPr id="28" name="Text 26"/>
          <p:cNvSpPr txBox="1"/>
          <p:nvPr/>
        </p:nvSpPr>
        <p:spPr>
          <a:xfrm>
            <a:off x="3063240" y="5148072"/>
            <a:ext cx="8229600" cy="603504"/>
          </a:xfrm>
          <a:prstGeom prst="rect">
            <a:avLst/>
          </a:prstGeom>
          <a:noFill/>
          <a:ln/>
        </p:spPr>
        <p:txBody>
          <a:bodyPr wrap="square" lIns="0" tIns="0" rIns="0" bIns="0" rtlCol="0" anchor="ctr"/>
          <a:lstStyle/>
          <a:p>
            <a:pPr indent="0" marL="0">
              <a:lnSpc>
                <a:spcPts val="1300"/>
              </a:lnSpc>
              <a:buNone/>
            </a:pPr>
            <a:r>
              <a:rPr lang="en-US" sz="1050" i="1" dirty="0">
                <a:solidFill>
                  <a:srgbClr val="FFFFFF"/>
                </a:solidFill>
                <a:latin typeface="Cambria" pitchFamily="34" charset="0"/>
                <a:ea typeface="Cambria" pitchFamily="34" charset="-122"/>
                <a:cs typeface="Cambria" pitchFamily="34" charset="-120"/>
              </a:rPr>
              <a:t>“We already paid for this. Why would we level down?”  </a:t>
            </a:r>
            <a:pPr indent="0" marL="0">
              <a:lnSpc>
                <a:spcPts val="1300"/>
              </a:lnSpc>
              <a:buNone/>
            </a:pPr>
            <a:r>
              <a:rPr lang="en-US" sz="1000" dirty="0">
                <a:solidFill>
                  <a:srgbClr val="9AA7BD"/>
                </a:solidFill>
                <a:latin typeface="Calibri" pitchFamily="34" charset="0"/>
                <a:ea typeface="Calibri" pitchFamily="34" charset="-122"/>
                <a:cs typeface="Calibri" pitchFamily="34" charset="-120"/>
              </a:rPr>
              <a:t>A property problem — so pay for what they give up: credit the head start, guarantee them demand.</a:t>
            </a:r>
            <a:endParaRPr lang="en-US" sz="1050" dirty="0"/>
          </a:p>
        </p:txBody>
      </p:sp>
      <p:sp>
        <p:nvSpPr>
          <p:cNvPr id="29" name="Shape 27"/>
          <p:cNvSpPr/>
          <p:nvPr/>
        </p:nvSpPr>
        <p:spPr>
          <a:xfrm>
            <a:off x="548640" y="5797296"/>
            <a:ext cx="10981944" cy="603504"/>
          </a:xfrm>
          <a:prstGeom prst="roundRect">
            <a:avLst>
              <a:gd name="adj" fmla="val 9091"/>
            </a:avLst>
          </a:prstGeom>
          <a:solidFill>
            <a:srgbClr val="1A2337"/>
          </a:solidFill>
          <a:ln w="9525">
            <a:solidFill>
              <a:srgbClr val="27334B"/>
            </a:solidFill>
            <a:prstDash val="solid"/>
          </a:ln>
        </p:spPr>
      </p:sp>
      <p:sp>
        <p:nvSpPr>
          <p:cNvPr id="30" name="Shape 28"/>
          <p:cNvSpPr/>
          <p:nvPr/>
        </p:nvSpPr>
        <p:spPr>
          <a:xfrm>
            <a:off x="804672" y="6032297"/>
            <a:ext cx="132588" cy="132588"/>
          </a:xfrm>
          <a:prstGeom prst="ellipse">
            <a:avLst/>
          </a:prstGeom>
          <a:solidFill>
            <a:srgbClr val="F0685F"/>
          </a:solidFill>
          <a:ln w="12700">
            <a:solidFill>
              <a:srgbClr val="333333"/>
            </a:solidFill>
            <a:prstDash val="solid"/>
          </a:ln>
        </p:spPr>
      </p:sp>
      <p:sp>
        <p:nvSpPr>
          <p:cNvPr id="31" name="Text 29"/>
          <p:cNvSpPr txBox="1"/>
          <p:nvPr/>
        </p:nvSpPr>
        <p:spPr>
          <a:xfrm>
            <a:off x="1060704" y="5797296"/>
            <a:ext cx="1847088" cy="603504"/>
          </a:xfrm>
          <a:prstGeom prst="rect">
            <a:avLst/>
          </a:prstGeom>
          <a:noFill/>
          <a:ln/>
        </p:spPr>
        <p:txBody>
          <a:bodyPr wrap="square" lIns="0" tIns="0" rIns="0" bIns="0" rtlCol="0" anchor="ctr"/>
          <a:lstStyle/>
          <a:p>
            <a:pPr indent="0" marL="0">
              <a:buNone/>
            </a:pPr>
            <a:r>
              <a:rPr lang="en-US" sz="1100" b="1" spc="120" kern="0" dirty="0">
                <a:solidFill>
                  <a:srgbClr val="F0685F"/>
                </a:solidFill>
                <a:latin typeface="Arial" pitchFamily="34" charset="0"/>
                <a:ea typeface="Arial" pitchFamily="34" charset="-122"/>
                <a:cs typeface="Arial" pitchFamily="34" charset="-120"/>
              </a:rPr>
              <a:t>ASSURANCE</a:t>
            </a:r>
            <a:endParaRPr lang="en-US" sz="1100" dirty="0"/>
          </a:p>
        </p:txBody>
      </p:sp>
      <p:sp>
        <p:nvSpPr>
          <p:cNvPr id="32" name="Text 30"/>
          <p:cNvSpPr txBox="1"/>
          <p:nvPr/>
        </p:nvSpPr>
        <p:spPr>
          <a:xfrm>
            <a:off x="3063240" y="5797296"/>
            <a:ext cx="8229600" cy="603504"/>
          </a:xfrm>
          <a:prstGeom prst="rect">
            <a:avLst/>
          </a:prstGeom>
          <a:noFill/>
          <a:ln/>
        </p:spPr>
        <p:txBody>
          <a:bodyPr wrap="square" lIns="0" tIns="0" rIns="0" bIns="0" rtlCol="0" anchor="ctr"/>
          <a:lstStyle/>
          <a:p>
            <a:pPr indent="0" marL="0">
              <a:lnSpc>
                <a:spcPts val="1300"/>
              </a:lnSpc>
              <a:buNone/>
            </a:pPr>
            <a:r>
              <a:rPr lang="en-US" sz="1050" i="1" dirty="0">
                <a:solidFill>
                  <a:srgbClr val="FFFFFF"/>
                </a:solidFill>
                <a:latin typeface="Cambria" pitchFamily="34" charset="0"/>
                <a:ea typeface="Cambria" pitchFamily="34" charset="-122"/>
                <a:cs typeface="Cambria" pitchFamily="34" charset="-120"/>
              </a:rPr>
              <a:t>“Last time the centre moved, we ate the cost.”  </a:t>
            </a:r>
            <a:pPr indent="0" marL="0">
              <a:lnSpc>
                <a:spcPts val="1300"/>
              </a:lnSpc>
              <a:buNone/>
            </a:pPr>
            <a:r>
              <a:rPr lang="en-US" sz="1000" dirty="0">
                <a:solidFill>
                  <a:srgbClr val="9AA7BD"/>
                </a:solidFill>
                <a:latin typeface="Calibri" pitchFamily="34" charset="0"/>
                <a:ea typeface="Calibri" pitchFamily="34" charset="-122"/>
                <a:cs typeface="Calibri" pitchFamily="34" charset="-120"/>
              </a:rPr>
              <a:t>A trust problem — so guarantee the downside: caps, kill criteria, migration costs covered.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526"/>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000" b="1" spc="220" kern="0" dirty="0">
                <a:solidFill>
                  <a:srgbClr val="6E7C94"/>
                </a:solidFill>
                <a:latin typeface="Arial" pitchFamily="34" charset="0"/>
                <a:ea typeface="Arial" pitchFamily="34" charset="-122"/>
                <a:cs typeface="Arial" pitchFamily="34" charset="-120"/>
              </a:rPr>
              <a:t>THE FRAMEWORK, APPLIED</a:t>
            </a:r>
            <a:endParaRPr lang="en-US" sz="1000" dirty="0"/>
          </a:p>
        </p:txBody>
      </p:sp>
      <p:sp>
        <p:nvSpPr>
          <p:cNvPr id="3" name="Text 1"/>
          <p:cNvSpPr txBox="1"/>
          <p:nvPr/>
        </p:nvSpPr>
        <p:spPr>
          <a:xfrm>
            <a:off x="548640" y="640080"/>
            <a:ext cx="11091672" cy="530352"/>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Three divisions, three blocks, three different deals</a:t>
            </a:r>
            <a:endParaRPr lang="en-US" sz="3200" dirty="0"/>
          </a:p>
        </p:txBody>
      </p:sp>
      <p:sp>
        <p:nvSpPr>
          <p:cNvPr id="4" name="Text 2"/>
          <p:cNvSpPr txBox="1"/>
          <p:nvPr/>
        </p:nvSpPr>
        <p:spPr>
          <a:xfrm>
            <a:off x="548640" y="1207008"/>
            <a:ext cx="11091672" cy="292608"/>
          </a:xfrm>
          <a:prstGeom prst="rect">
            <a:avLst/>
          </a:prstGeom>
          <a:noFill/>
          <a:ln/>
        </p:spPr>
        <p:txBody>
          <a:bodyPr wrap="square" lIns="0" tIns="0" rIns="0" bIns="0" rtlCol="0" anchor="ctr"/>
          <a:lstStyle/>
          <a:p>
            <a:pPr indent="0" marL="0">
              <a:buNone/>
            </a:pPr>
            <a:r>
              <a:rPr lang="en-US" sz="1300" dirty="0">
                <a:solidFill>
                  <a:srgbClr val="9AA7BD"/>
                </a:solidFill>
                <a:latin typeface="Calibri" pitchFamily="34" charset="0"/>
                <a:ea typeface="Calibri" pitchFamily="34" charset="-122"/>
                <a:cs typeface="Calibri" pitchFamily="34" charset="-120"/>
              </a:rPr>
              <a:t>Same diagnostic, run on each group in the room.</a:t>
            </a:r>
            <a:endParaRPr lang="en-US" sz="1300" dirty="0"/>
          </a:p>
        </p:txBody>
      </p:sp>
      <p:sp>
        <p:nvSpPr>
          <p:cNvPr id="5" name="Text 3"/>
          <p:cNvSpPr txBox="1"/>
          <p:nvPr/>
        </p:nvSpPr>
        <p:spPr>
          <a:xfrm>
            <a:off x="2624328" y="1719072"/>
            <a:ext cx="2926080" cy="237744"/>
          </a:xfrm>
          <a:prstGeom prst="rect">
            <a:avLst/>
          </a:prstGeom>
          <a:noFill/>
          <a:ln/>
        </p:spPr>
        <p:txBody>
          <a:bodyPr wrap="square" lIns="0" tIns="0" rIns="0" bIns="0" rtlCol="0" anchor="ctr"/>
          <a:lstStyle/>
          <a:p>
            <a:pPr indent="0" marL="0">
              <a:buNone/>
            </a:pPr>
            <a:r>
              <a:rPr lang="en-US" sz="950" b="1" spc="160" kern="0" dirty="0">
                <a:solidFill>
                  <a:srgbClr val="3FD9A0"/>
                </a:solidFill>
                <a:latin typeface="Arial" pitchFamily="34" charset="0"/>
                <a:ea typeface="Arial" pitchFamily="34" charset="-122"/>
                <a:cs typeface="Arial" pitchFamily="34" charset="-120"/>
              </a:rPr>
              <a:t>PULL   —   THEIR POSITION</a:t>
            </a:r>
            <a:endParaRPr lang="en-US" sz="950" dirty="0"/>
          </a:p>
        </p:txBody>
      </p:sp>
      <p:sp>
        <p:nvSpPr>
          <p:cNvPr id="6" name="Text 4"/>
          <p:cNvSpPr txBox="1"/>
          <p:nvPr/>
        </p:nvSpPr>
        <p:spPr>
          <a:xfrm>
            <a:off x="5660136" y="1719072"/>
            <a:ext cx="2926080" cy="237744"/>
          </a:xfrm>
          <a:prstGeom prst="rect">
            <a:avLst/>
          </a:prstGeom>
          <a:noFill/>
          <a:ln/>
        </p:spPr>
        <p:txBody>
          <a:bodyPr wrap="square" lIns="0" tIns="0" rIns="0" bIns="0" rtlCol="0" anchor="ctr"/>
          <a:lstStyle/>
          <a:p>
            <a:pPr indent="0" marL="0">
              <a:buNone/>
            </a:pPr>
            <a:r>
              <a:rPr lang="en-US" sz="950" b="1" spc="160" kern="0" dirty="0">
                <a:solidFill>
                  <a:srgbClr val="F0685F"/>
                </a:solidFill>
                <a:latin typeface="Arial" pitchFamily="34" charset="0"/>
                <a:ea typeface="Arial" pitchFamily="34" charset="-122"/>
                <a:cs typeface="Arial" pitchFamily="34" charset="-120"/>
              </a:rPr>
              <a:t>BLOCK   —   AND ITS TYPE</a:t>
            </a:r>
            <a:endParaRPr lang="en-US" sz="950" dirty="0"/>
          </a:p>
        </p:txBody>
      </p:sp>
      <p:sp>
        <p:nvSpPr>
          <p:cNvPr id="7" name="Text 5"/>
          <p:cNvSpPr txBox="1"/>
          <p:nvPr/>
        </p:nvSpPr>
        <p:spPr>
          <a:xfrm>
            <a:off x="8695944" y="1719072"/>
            <a:ext cx="2926080" cy="237744"/>
          </a:xfrm>
          <a:prstGeom prst="rect">
            <a:avLst/>
          </a:prstGeom>
          <a:noFill/>
          <a:ln/>
        </p:spPr>
        <p:txBody>
          <a:bodyPr wrap="square" lIns="0" tIns="0" rIns="0" bIns="0" rtlCol="0" anchor="ctr"/>
          <a:lstStyle/>
          <a:p>
            <a:pPr indent="0" marL="0">
              <a:buNone/>
            </a:pPr>
            <a:r>
              <a:rPr lang="en-US" sz="950" b="1" spc="160" kern="0" dirty="0">
                <a:solidFill>
                  <a:srgbClr val="FFFFFF"/>
                </a:solidFill>
                <a:latin typeface="Arial" pitchFamily="34" charset="0"/>
                <a:ea typeface="Arial" pitchFamily="34" charset="-122"/>
                <a:cs typeface="Arial" pitchFamily="34" charset="-120"/>
              </a:rPr>
              <a:t>MOVE   —   WHAT BUYS THEM IN</a:t>
            </a:r>
            <a:endParaRPr lang="en-US" sz="950" dirty="0"/>
          </a:p>
        </p:txBody>
      </p:sp>
      <p:sp>
        <p:nvSpPr>
          <p:cNvPr id="8" name="Shape 6"/>
          <p:cNvSpPr/>
          <p:nvPr/>
        </p:nvSpPr>
        <p:spPr>
          <a:xfrm>
            <a:off x="548640" y="2084832"/>
            <a:ext cx="10981944" cy="1051560"/>
          </a:xfrm>
          <a:prstGeom prst="roundRect">
            <a:avLst>
              <a:gd name="adj" fmla="val 5217"/>
            </a:avLst>
          </a:prstGeom>
          <a:solidFill>
            <a:srgbClr val="1A2337"/>
          </a:solidFill>
          <a:ln w="9525">
            <a:solidFill>
              <a:srgbClr val="27334B"/>
            </a:solidFill>
            <a:prstDash val="solid"/>
          </a:ln>
        </p:spPr>
      </p:sp>
      <p:sp>
        <p:nvSpPr>
          <p:cNvPr id="9" name="Shape 7"/>
          <p:cNvSpPr/>
          <p:nvPr/>
        </p:nvSpPr>
        <p:spPr>
          <a:xfrm>
            <a:off x="804672" y="2560320"/>
            <a:ext cx="132588" cy="132588"/>
          </a:xfrm>
          <a:prstGeom prst="ellipse">
            <a:avLst/>
          </a:prstGeom>
          <a:solidFill>
            <a:srgbClr val="E8A33D"/>
          </a:solidFill>
          <a:ln w="12700">
            <a:solidFill>
              <a:srgbClr val="333333"/>
            </a:solidFill>
            <a:prstDash val="solid"/>
          </a:ln>
        </p:spPr>
      </p:sp>
      <p:sp>
        <p:nvSpPr>
          <p:cNvPr id="10" name="Text 8"/>
          <p:cNvSpPr txBox="1"/>
          <p:nvPr/>
        </p:nvSpPr>
        <p:spPr>
          <a:xfrm>
            <a:off x="1024128" y="2340864"/>
            <a:ext cx="1399032" cy="54864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Site Operations</a:t>
            </a:r>
            <a:endParaRPr lang="en-US" sz="1250" dirty="0"/>
          </a:p>
        </p:txBody>
      </p:sp>
      <p:sp>
        <p:nvSpPr>
          <p:cNvPr id="11" name="Text 9"/>
          <p:cNvSpPr txBox="1"/>
          <p:nvPr/>
        </p:nvSpPr>
        <p:spPr>
          <a:xfrm>
            <a:off x="2624328" y="2340864"/>
            <a:ext cx="2651760" cy="237744"/>
          </a:xfrm>
          <a:prstGeom prst="rect">
            <a:avLst/>
          </a:prstGeom>
          <a:noFill/>
          <a:ln/>
        </p:spPr>
        <p:txBody>
          <a:bodyPr wrap="square" lIns="0" tIns="0" rIns="0" bIns="0" rtlCol="0" anchor="ctr"/>
          <a:lstStyle/>
          <a:p>
            <a:pPr indent="0" marL="0">
              <a:buNone/>
            </a:pPr>
            <a:r>
              <a:rPr lang="en-US" sz="1100" b="1" spc="130" kern="0" dirty="0">
                <a:solidFill>
                  <a:srgbClr val="3FD9A0"/>
                </a:solidFill>
                <a:latin typeface="Arial" pitchFamily="34" charset="0"/>
                <a:ea typeface="Arial" pitchFamily="34" charset="-122"/>
                <a:cs typeface="Arial" pitchFamily="34" charset="-120"/>
              </a:rPr>
              <a:t>DEPENDENT</a:t>
            </a:r>
            <a:endParaRPr lang="en-US" sz="1100" dirty="0"/>
          </a:p>
        </p:txBody>
      </p:sp>
      <p:sp>
        <p:nvSpPr>
          <p:cNvPr id="12" name="Text 10"/>
          <p:cNvSpPr txBox="1"/>
          <p:nvPr/>
        </p:nvSpPr>
        <p:spPr>
          <a:xfrm>
            <a:off x="2624328" y="2615184"/>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40% of its value needs a layer it cannot build. Six of nine top workflows cross its boundary.</a:t>
            </a:r>
            <a:endParaRPr lang="en-US" sz="950" dirty="0"/>
          </a:p>
        </p:txBody>
      </p:sp>
      <p:sp>
        <p:nvSpPr>
          <p:cNvPr id="13" name="Text 11"/>
          <p:cNvSpPr txBox="1"/>
          <p:nvPr/>
        </p:nvSpPr>
        <p:spPr>
          <a:xfrm>
            <a:off x="5660136" y="2340864"/>
            <a:ext cx="2743200" cy="237744"/>
          </a:xfrm>
          <a:prstGeom prst="rect">
            <a:avLst/>
          </a:prstGeom>
          <a:noFill/>
          <a:ln/>
        </p:spPr>
        <p:txBody>
          <a:bodyPr wrap="square" lIns="0" tIns="0" rIns="0" bIns="0" rtlCol="0" anchor="ctr"/>
          <a:lstStyle/>
          <a:p>
            <a:pPr indent="0" marL="0">
              <a:buNone/>
            </a:pPr>
            <a:r>
              <a:rPr lang="en-US" sz="1100" b="1" spc="130" kern="0" dirty="0">
                <a:solidFill>
                  <a:srgbClr val="F0685F"/>
                </a:solidFill>
                <a:latin typeface="Arial" pitchFamily="34" charset="0"/>
                <a:ea typeface="Arial" pitchFamily="34" charset="-122"/>
                <a:cs typeface="Arial" pitchFamily="34" charset="-120"/>
              </a:rPr>
              <a:t>ABSORPTION  </a:t>
            </a:r>
            <a:pPr indent="0" marL="0">
              <a:buNone/>
            </a:pPr>
            <a:r>
              <a:rPr lang="en-US" sz="900" i="1" dirty="0">
                <a:solidFill>
                  <a:srgbClr val="6E7C94"/>
                </a:solidFill>
                <a:latin typeface="Calibri" pitchFamily="34" charset="0"/>
                <a:ea typeface="Calibri" pitchFamily="34" charset="-122"/>
                <a:cs typeface="Calibri" pitchFamily="34" charset="-120"/>
              </a:rPr>
              <a:t>·  a timing problem</a:t>
            </a:r>
            <a:endParaRPr lang="en-US" sz="1100" dirty="0"/>
          </a:p>
        </p:txBody>
      </p:sp>
      <p:sp>
        <p:nvSpPr>
          <p:cNvPr id="14" name="Text 12"/>
          <p:cNvSpPr txBox="1"/>
          <p:nvPr/>
        </p:nvSpPr>
        <p:spPr>
          <a:xfrm>
            <a:off x="5660136" y="2615184"/>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Q3/Q4 change capacity is near zero. A new technology leader arrives in two quarters.</a:t>
            </a:r>
            <a:endParaRPr lang="en-US" sz="950" dirty="0"/>
          </a:p>
        </p:txBody>
      </p:sp>
      <p:sp>
        <p:nvSpPr>
          <p:cNvPr id="15" name="Text 13"/>
          <p:cNvSpPr txBox="1"/>
          <p:nvPr/>
        </p:nvSpPr>
        <p:spPr>
          <a:xfrm>
            <a:off x="8695944" y="2340864"/>
            <a:ext cx="2651760" cy="237744"/>
          </a:xfrm>
          <a:prstGeom prst="rect">
            <a:avLst/>
          </a:prstGeom>
          <a:noFill/>
          <a:ln/>
        </p:spPr>
        <p:txBody>
          <a:bodyPr wrap="square" lIns="0" tIns="0" rIns="0" bIns="0" rtlCol="0" anchor="ctr"/>
          <a:lstStyle/>
          <a:p>
            <a:pPr indent="0" marL="0">
              <a:buNone/>
            </a:pPr>
            <a:r>
              <a:rPr lang="en-US" sz="1100" b="1" spc="130" kern="0" dirty="0">
                <a:solidFill>
                  <a:srgbClr val="FFFFFF"/>
                </a:solidFill>
                <a:latin typeface="Arial" pitchFamily="34" charset="0"/>
                <a:ea typeface="Arial" pitchFamily="34" charset="-122"/>
                <a:cs typeface="Arial" pitchFamily="34" charset="-120"/>
              </a:rPr>
              <a:t>SEQUENCE</a:t>
            </a:r>
            <a:endParaRPr lang="en-US" sz="1100" dirty="0"/>
          </a:p>
        </p:txBody>
      </p:sp>
      <p:sp>
        <p:nvSpPr>
          <p:cNvPr id="16" name="Text 14"/>
          <p:cNvSpPr txBox="1"/>
          <p:nvPr/>
        </p:nvSpPr>
        <p:spPr>
          <a:xfrm>
            <a:off x="8695944" y="2615184"/>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Full target, back-loaded. Staged into gates the incoming leader can own.</a:t>
            </a:r>
            <a:endParaRPr lang="en-US" sz="950" dirty="0"/>
          </a:p>
        </p:txBody>
      </p:sp>
      <p:sp>
        <p:nvSpPr>
          <p:cNvPr id="17" name="Shape 15"/>
          <p:cNvSpPr/>
          <p:nvPr/>
        </p:nvSpPr>
        <p:spPr>
          <a:xfrm>
            <a:off x="548640" y="3246120"/>
            <a:ext cx="10981944" cy="1051560"/>
          </a:xfrm>
          <a:prstGeom prst="roundRect">
            <a:avLst>
              <a:gd name="adj" fmla="val 5217"/>
            </a:avLst>
          </a:prstGeom>
          <a:solidFill>
            <a:srgbClr val="1A2337"/>
          </a:solidFill>
          <a:ln w="9525">
            <a:solidFill>
              <a:srgbClr val="27334B"/>
            </a:solidFill>
            <a:prstDash val="solid"/>
          </a:ln>
        </p:spPr>
      </p:sp>
      <p:sp>
        <p:nvSpPr>
          <p:cNvPr id="18" name="Shape 16"/>
          <p:cNvSpPr/>
          <p:nvPr/>
        </p:nvSpPr>
        <p:spPr>
          <a:xfrm>
            <a:off x="804672" y="3721608"/>
            <a:ext cx="132588" cy="132588"/>
          </a:xfrm>
          <a:prstGeom prst="ellipse">
            <a:avLst/>
          </a:prstGeom>
          <a:solidFill>
            <a:srgbClr val="4FC3D9"/>
          </a:solidFill>
          <a:ln w="12700">
            <a:solidFill>
              <a:srgbClr val="333333"/>
            </a:solidFill>
            <a:prstDash val="solid"/>
          </a:ln>
        </p:spPr>
      </p:sp>
      <p:sp>
        <p:nvSpPr>
          <p:cNvPr id="19" name="Text 17"/>
          <p:cNvSpPr txBox="1"/>
          <p:nvPr/>
        </p:nvSpPr>
        <p:spPr>
          <a:xfrm>
            <a:off x="1024128" y="3502152"/>
            <a:ext cx="1399032" cy="54864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Data &amp; Analytics</a:t>
            </a:r>
            <a:endParaRPr lang="en-US" sz="1250" dirty="0"/>
          </a:p>
        </p:txBody>
      </p:sp>
      <p:sp>
        <p:nvSpPr>
          <p:cNvPr id="20" name="Text 18"/>
          <p:cNvSpPr txBox="1"/>
          <p:nvPr/>
        </p:nvSpPr>
        <p:spPr>
          <a:xfrm>
            <a:off x="2624328" y="3502152"/>
            <a:ext cx="2651760" cy="237744"/>
          </a:xfrm>
          <a:prstGeom prst="rect">
            <a:avLst/>
          </a:prstGeom>
          <a:noFill/>
          <a:ln/>
        </p:spPr>
        <p:txBody>
          <a:bodyPr wrap="square" lIns="0" tIns="0" rIns="0" bIns="0" rtlCol="0" anchor="ctr"/>
          <a:lstStyle/>
          <a:p>
            <a:pPr indent="0" marL="0">
              <a:buNone/>
            </a:pPr>
            <a:r>
              <a:rPr lang="en-US" sz="1100" b="1" spc="130" kern="0" dirty="0">
                <a:solidFill>
                  <a:srgbClr val="3FD9A0"/>
                </a:solidFill>
                <a:latin typeface="Arial" pitchFamily="34" charset="0"/>
                <a:ea typeface="Arial" pitchFamily="34" charset="-122"/>
                <a:cs typeface="Arial" pitchFamily="34" charset="-120"/>
              </a:rPr>
              <a:t>SUPPLIER</a:t>
            </a:r>
            <a:endParaRPr lang="en-US" sz="1100" dirty="0"/>
          </a:p>
        </p:txBody>
      </p:sp>
      <p:sp>
        <p:nvSpPr>
          <p:cNvPr id="21" name="Text 19"/>
          <p:cNvSpPr txBox="1"/>
          <p:nvPr/>
        </p:nvSpPr>
        <p:spPr>
          <a:xfrm>
            <a:off x="2624328" y="3776472"/>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The only group that can build the layer. Its own pool is hardest to grow; the upside is elsewhere.</a:t>
            </a:r>
            <a:endParaRPr lang="en-US" sz="950" dirty="0"/>
          </a:p>
        </p:txBody>
      </p:sp>
      <p:sp>
        <p:nvSpPr>
          <p:cNvPr id="22" name="Text 20"/>
          <p:cNvSpPr txBox="1"/>
          <p:nvPr/>
        </p:nvSpPr>
        <p:spPr>
          <a:xfrm>
            <a:off x="5660136" y="3502152"/>
            <a:ext cx="2743200" cy="237744"/>
          </a:xfrm>
          <a:prstGeom prst="rect">
            <a:avLst/>
          </a:prstGeom>
          <a:noFill/>
          <a:ln/>
        </p:spPr>
        <p:txBody>
          <a:bodyPr wrap="square" lIns="0" tIns="0" rIns="0" bIns="0" rtlCol="0" anchor="ctr"/>
          <a:lstStyle/>
          <a:p>
            <a:pPr indent="0" marL="0">
              <a:buNone/>
            </a:pPr>
            <a:r>
              <a:rPr lang="en-US" sz="1100" b="1" spc="130" kern="0" dirty="0">
                <a:solidFill>
                  <a:srgbClr val="F0685F"/>
                </a:solidFill>
                <a:latin typeface="Arial" pitchFamily="34" charset="0"/>
                <a:ea typeface="Arial" pitchFamily="34" charset="-122"/>
                <a:cs typeface="Arial" pitchFamily="34" charset="-120"/>
              </a:rPr>
              <a:t>ADVANTAGE  </a:t>
            </a:r>
            <a:pPr indent="0" marL="0">
              <a:buNone/>
            </a:pPr>
            <a:r>
              <a:rPr lang="en-US" sz="900" i="1" dirty="0">
                <a:solidFill>
                  <a:srgbClr val="6E7C94"/>
                </a:solidFill>
                <a:latin typeface="Calibri" pitchFamily="34" charset="0"/>
                <a:ea typeface="Calibri" pitchFamily="34" charset="-122"/>
                <a:cs typeface="Calibri" pitchFamily="34" charset="-120"/>
              </a:rPr>
              <a:t>·  a property problem</a:t>
            </a:r>
            <a:endParaRPr lang="en-US" sz="1100" dirty="0"/>
          </a:p>
        </p:txBody>
      </p:sp>
      <p:sp>
        <p:nvSpPr>
          <p:cNvPr id="23" name="Text 21"/>
          <p:cNvSpPr txBox="1"/>
          <p:nvPr/>
        </p:nvSpPr>
        <p:spPr>
          <a:xfrm>
            <a:off x="5660136" y="3776472"/>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Already funded its own plan. Centralising means slowing down to carry everyone else.</a:t>
            </a:r>
            <a:endParaRPr lang="en-US" sz="950" dirty="0"/>
          </a:p>
        </p:txBody>
      </p:sp>
      <p:sp>
        <p:nvSpPr>
          <p:cNvPr id="24" name="Text 22"/>
          <p:cNvSpPr txBox="1"/>
          <p:nvPr/>
        </p:nvSpPr>
        <p:spPr>
          <a:xfrm>
            <a:off x="8695944" y="3502152"/>
            <a:ext cx="2651760" cy="237744"/>
          </a:xfrm>
          <a:prstGeom prst="rect">
            <a:avLst/>
          </a:prstGeom>
          <a:noFill/>
          <a:ln/>
        </p:spPr>
        <p:txBody>
          <a:bodyPr wrap="square" lIns="0" tIns="0" rIns="0" bIns="0" rtlCol="0" anchor="ctr"/>
          <a:lstStyle/>
          <a:p>
            <a:pPr indent="0" marL="0">
              <a:buNone/>
            </a:pPr>
            <a:r>
              <a:rPr lang="en-US" sz="1100" b="1" spc="130" kern="0" dirty="0">
                <a:solidFill>
                  <a:srgbClr val="FFFFFF"/>
                </a:solidFill>
                <a:latin typeface="Arial" pitchFamily="34" charset="0"/>
                <a:ea typeface="Arial" pitchFamily="34" charset="-122"/>
                <a:cs typeface="Arial" pitchFamily="34" charset="-120"/>
              </a:rPr>
              <a:t>PRICE</a:t>
            </a:r>
            <a:endParaRPr lang="en-US" sz="1100" dirty="0"/>
          </a:p>
        </p:txBody>
      </p:sp>
      <p:sp>
        <p:nvSpPr>
          <p:cNvPr id="25" name="Text 23"/>
          <p:cNvSpPr txBox="1"/>
          <p:nvPr/>
        </p:nvSpPr>
        <p:spPr>
          <a:xfrm>
            <a:off x="8695944" y="3776472"/>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Credit the head start. Supplier of record, with demand guaranteed.</a:t>
            </a:r>
            <a:endParaRPr lang="en-US" sz="950" dirty="0"/>
          </a:p>
        </p:txBody>
      </p:sp>
      <p:sp>
        <p:nvSpPr>
          <p:cNvPr id="26" name="Shape 24"/>
          <p:cNvSpPr/>
          <p:nvPr/>
        </p:nvSpPr>
        <p:spPr>
          <a:xfrm>
            <a:off x="548640" y="4407408"/>
            <a:ext cx="10981944" cy="1051560"/>
          </a:xfrm>
          <a:prstGeom prst="roundRect">
            <a:avLst>
              <a:gd name="adj" fmla="val 5217"/>
            </a:avLst>
          </a:prstGeom>
          <a:solidFill>
            <a:srgbClr val="1A2337"/>
          </a:solidFill>
          <a:ln w="9525">
            <a:solidFill>
              <a:srgbClr val="27334B"/>
            </a:solidFill>
            <a:prstDash val="solid"/>
          </a:ln>
        </p:spPr>
      </p:sp>
      <p:sp>
        <p:nvSpPr>
          <p:cNvPr id="27" name="Shape 25"/>
          <p:cNvSpPr/>
          <p:nvPr/>
        </p:nvSpPr>
        <p:spPr>
          <a:xfrm>
            <a:off x="804672" y="4882896"/>
            <a:ext cx="132588" cy="132588"/>
          </a:xfrm>
          <a:prstGeom prst="ellipse">
            <a:avLst/>
          </a:prstGeom>
          <a:solidFill>
            <a:srgbClr val="A78BFA"/>
          </a:solidFill>
          <a:ln w="12700">
            <a:solidFill>
              <a:srgbClr val="333333"/>
            </a:solidFill>
            <a:prstDash val="solid"/>
          </a:ln>
        </p:spPr>
      </p:sp>
      <p:sp>
        <p:nvSpPr>
          <p:cNvPr id="28" name="Text 26"/>
          <p:cNvSpPr txBox="1"/>
          <p:nvPr/>
        </p:nvSpPr>
        <p:spPr>
          <a:xfrm>
            <a:off x="1024128" y="4663440"/>
            <a:ext cx="1399032" cy="54864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Patient Engagement</a:t>
            </a:r>
            <a:endParaRPr lang="en-US" sz="1250" dirty="0"/>
          </a:p>
        </p:txBody>
      </p:sp>
      <p:sp>
        <p:nvSpPr>
          <p:cNvPr id="29" name="Text 27"/>
          <p:cNvSpPr txBox="1"/>
          <p:nvPr/>
        </p:nvSpPr>
        <p:spPr>
          <a:xfrm>
            <a:off x="2624328" y="4663440"/>
            <a:ext cx="2651760" cy="237744"/>
          </a:xfrm>
          <a:prstGeom prst="rect">
            <a:avLst/>
          </a:prstGeom>
          <a:noFill/>
          <a:ln/>
        </p:spPr>
        <p:txBody>
          <a:bodyPr wrap="square" lIns="0" tIns="0" rIns="0" bIns="0" rtlCol="0" anchor="ctr"/>
          <a:lstStyle/>
          <a:p>
            <a:pPr indent="0" marL="0">
              <a:buNone/>
            </a:pPr>
            <a:r>
              <a:rPr lang="en-US" sz="1100" b="1" spc="130" kern="0" dirty="0">
                <a:solidFill>
                  <a:srgbClr val="3FD9A0"/>
                </a:solidFill>
                <a:latin typeface="Arial" pitchFamily="34" charset="0"/>
                <a:ea typeface="Arial" pitchFamily="34" charset="-122"/>
                <a:cs typeface="Arial" pitchFamily="34" charset="-120"/>
              </a:rPr>
              <a:t>DEPENDENT</a:t>
            </a:r>
            <a:endParaRPr lang="en-US" sz="1100" dirty="0"/>
          </a:p>
        </p:txBody>
      </p:sp>
      <p:sp>
        <p:nvSpPr>
          <p:cNvPr id="30" name="Text 28"/>
          <p:cNvSpPr txBox="1"/>
          <p:nvPr/>
        </p:nvSpPr>
        <p:spPr>
          <a:xfrm>
            <a:off x="2624328" y="4937760"/>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Best return per dollar in the room — and nearly all of it evaporates without shared data.</a:t>
            </a:r>
            <a:endParaRPr lang="en-US" sz="950" dirty="0"/>
          </a:p>
        </p:txBody>
      </p:sp>
      <p:sp>
        <p:nvSpPr>
          <p:cNvPr id="31" name="Text 29"/>
          <p:cNvSpPr txBox="1"/>
          <p:nvPr/>
        </p:nvSpPr>
        <p:spPr>
          <a:xfrm>
            <a:off x="5660136" y="4663440"/>
            <a:ext cx="2743200" cy="237744"/>
          </a:xfrm>
          <a:prstGeom prst="rect">
            <a:avLst/>
          </a:prstGeom>
          <a:noFill/>
          <a:ln/>
        </p:spPr>
        <p:txBody>
          <a:bodyPr wrap="square" lIns="0" tIns="0" rIns="0" bIns="0" rtlCol="0" anchor="ctr"/>
          <a:lstStyle/>
          <a:p>
            <a:pPr indent="0" marL="0">
              <a:buNone/>
            </a:pPr>
            <a:r>
              <a:rPr lang="en-US" sz="1100" b="1" spc="130" kern="0" dirty="0">
                <a:solidFill>
                  <a:srgbClr val="F0685F"/>
                </a:solidFill>
                <a:latin typeface="Arial" pitchFamily="34" charset="0"/>
                <a:ea typeface="Arial" pitchFamily="34" charset="-122"/>
                <a:cs typeface="Arial" pitchFamily="34" charset="-120"/>
              </a:rPr>
              <a:t>ASSURANCE  </a:t>
            </a:r>
            <a:pPr indent="0" marL="0">
              <a:buNone/>
            </a:pPr>
            <a:r>
              <a:rPr lang="en-US" sz="900" i="1" dirty="0">
                <a:solidFill>
                  <a:srgbClr val="6E7C94"/>
                </a:solidFill>
                <a:latin typeface="Calibri" pitchFamily="34" charset="0"/>
                <a:ea typeface="Calibri" pitchFamily="34" charset="-122"/>
                <a:cs typeface="Calibri" pitchFamily="34" charset="-120"/>
              </a:rPr>
              <a:t>·  a trust problem</a:t>
            </a:r>
            <a:endParaRPr lang="en-US" sz="1100" dirty="0"/>
          </a:p>
        </p:txBody>
      </p:sp>
      <p:sp>
        <p:nvSpPr>
          <p:cNvPr id="32" name="Text 30"/>
          <p:cNvSpPr txBox="1"/>
          <p:nvPr/>
        </p:nvSpPr>
        <p:spPr>
          <a:xfrm>
            <a:off x="5660136" y="4937760"/>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The last central standard forced an uncompensated rebuild and cost two campaigns a quarter.</a:t>
            </a:r>
            <a:endParaRPr lang="en-US" sz="950" dirty="0"/>
          </a:p>
        </p:txBody>
      </p:sp>
      <p:sp>
        <p:nvSpPr>
          <p:cNvPr id="33" name="Text 31"/>
          <p:cNvSpPr txBox="1"/>
          <p:nvPr/>
        </p:nvSpPr>
        <p:spPr>
          <a:xfrm>
            <a:off x="8695944" y="4663440"/>
            <a:ext cx="2651760" cy="237744"/>
          </a:xfrm>
          <a:prstGeom prst="rect">
            <a:avLst/>
          </a:prstGeom>
          <a:noFill/>
          <a:ln/>
        </p:spPr>
        <p:txBody>
          <a:bodyPr wrap="square" lIns="0" tIns="0" rIns="0" bIns="0" rtlCol="0" anchor="ctr"/>
          <a:lstStyle/>
          <a:p>
            <a:pPr indent="0" marL="0">
              <a:buNone/>
            </a:pPr>
            <a:r>
              <a:rPr lang="en-US" sz="1100" b="1" spc="130" kern="0" dirty="0">
                <a:solidFill>
                  <a:srgbClr val="FFFFFF"/>
                </a:solidFill>
                <a:latin typeface="Arial" pitchFamily="34" charset="0"/>
                <a:ea typeface="Arial" pitchFamily="34" charset="-122"/>
                <a:cs typeface="Arial" pitchFamily="34" charset="-120"/>
              </a:rPr>
              <a:t>UNDERWRITE</a:t>
            </a:r>
            <a:endParaRPr lang="en-US" sz="1100" dirty="0"/>
          </a:p>
        </p:txBody>
      </p:sp>
      <p:sp>
        <p:nvSpPr>
          <p:cNvPr id="34" name="Text 32"/>
          <p:cNvSpPr txBox="1"/>
          <p:nvPr/>
        </p:nvSpPr>
        <p:spPr>
          <a:xfrm>
            <a:off x="8695944" y="4937760"/>
            <a:ext cx="2651760" cy="475488"/>
          </a:xfrm>
          <a:prstGeom prst="rect">
            <a:avLst/>
          </a:prstGeom>
          <a:noFill/>
          <a:ln/>
        </p:spPr>
        <p:txBody>
          <a:bodyPr wrap="square" lIns="0" tIns="0" rIns="0" bIns="0" rtlCol="0" anchor="t"/>
          <a:lstStyle/>
          <a:p>
            <a:pPr indent="0" marL="0">
              <a:lnSpc>
                <a:spcPts val="1200"/>
              </a:lnSpc>
              <a:buNone/>
            </a:pPr>
            <a:r>
              <a:rPr lang="en-US" sz="950" dirty="0">
                <a:solidFill>
                  <a:srgbClr val="9AA7BD"/>
                </a:solidFill>
                <a:latin typeface="Calibri" pitchFamily="34" charset="0"/>
                <a:ea typeface="Calibri" pitchFamily="34" charset="-122"/>
                <a:cs typeface="Calibri" pitchFamily="34" charset="-120"/>
              </a:rPr>
              <a:t>Migration cost covered up front. Access guaranteed in writing, before the pledge.</a:t>
            </a:r>
            <a:endParaRPr lang="en-US" sz="950" dirty="0"/>
          </a:p>
        </p:txBody>
      </p:sp>
      <p:sp>
        <p:nvSpPr>
          <p:cNvPr id="35" name="Shape 33"/>
          <p:cNvSpPr/>
          <p:nvPr/>
        </p:nvSpPr>
        <p:spPr>
          <a:xfrm>
            <a:off x="548640" y="5669280"/>
            <a:ext cx="10981944" cy="768096"/>
          </a:xfrm>
          <a:prstGeom prst="roundRect">
            <a:avLst>
              <a:gd name="adj" fmla="val 7143"/>
            </a:avLst>
          </a:prstGeom>
          <a:solidFill>
            <a:srgbClr val="1A2337"/>
          </a:solidFill>
          <a:ln w="9525">
            <a:solidFill>
              <a:srgbClr val="27334B"/>
            </a:solidFill>
            <a:prstDash val="solid"/>
          </a:ln>
        </p:spPr>
      </p:sp>
      <p:sp>
        <p:nvSpPr>
          <p:cNvPr id="36" name="Text 34"/>
          <p:cNvSpPr txBox="1"/>
          <p:nvPr/>
        </p:nvSpPr>
        <p:spPr>
          <a:xfrm>
            <a:off x="786384" y="5669280"/>
            <a:ext cx="10515600" cy="768096"/>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Arial" pitchFamily="34" charset="0"/>
                <a:ea typeface="Arial" pitchFamily="34" charset="-122"/>
                <a:cs typeface="Arial" pitchFamily="34" charset="-120"/>
              </a:rPr>
              <a:t>Two of the three cannot move without the third. The pull is identical; only the block differs.
</a:t>
            </a:r>
            <a:pPr indent="0" marL="0">
              <a:lnSpc>
                <a:spcPts val="1500"/>
              </a:lnSpc>
              <a:buNone/>
            </a:pPr>
            <a:r>
              <a:rPr lang="en-US" sz="1050" dirty="0">
                <a:solidFill>
                  <a:srgbClr val="9AA7BD"/>
                </a:solidFill>
                <a:latin typeface="Calibri" pitchFamily="34" charset="0"/>
                <a:ea typeface="Calibri" pitchFamily="34" charset="-122"/>
                <a:cs typeface="Calibri" pitchFamily="34" charset="-120"/>
              </a:rPr>
              <a:t>One deal will not clear this room. Three will — and each costs the centre something different to write.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divisions on board</dc:title>
  <dc:subject>PptxGenJS Presentation</dc:subject>
  <dc:creator>Aster Life Sciences simulation</dc:creator>
  <cp:lastModifiedBy>Aster Life Sciences simulation</cp:lastModifiedBy>
  <cp:revision>1</cp:revision>
  <dcterms:created xsi:type="dcterms:W3CDTF">2026-09-10T14:51:44Z</dcterms:created>
  <dcterms:modified xsi:type="dcterms:W3CDTF">2026-09-10T14:51:44Z</dcterms:modified>
</cp:coreProperties>
</file>